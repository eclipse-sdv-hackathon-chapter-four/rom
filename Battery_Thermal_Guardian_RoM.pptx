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embeddedFontLst>
    <p:embeddedFont>
      <p:font typeface="IBM Plex Sans"/>
      <p:regular r:id="rId16"/>
      <p:bold r:id="rId17"/>
      <p:italic r:id="rId18"/>
      <p:boldItalic r:id="rId19"/>
    </p:embeddedFont>
    <p:embeddedFont>
      <p:font typeface="JetBrains Mono"/>
      <p:regular r:id="rId20"/>
      <p:bold r:id="rId21"/>
      <p:italic r:id="rId22"/>
      <p:boldItalic r:id="rId23"/>
    </p:embeddedFont>
    <p:embeddedFont>
      <p:font typeface="Space Grotesk"/>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JetBrainsMono-regular.fntdata"/><Relationship Id="rId22" Type="http://schemas.openxmlformats.org/officeDocument/2006/relationships/font" Target="fonts/JetBrainsMono-italic.fntdata"/><Relationship Id="rId21" Type="http://schemas.openxmlformats.org/officeDocument/2006/relationships/font" Target="fonts/JetBrainsMono-bold.fntdata"/><Relationship Id="rId24" Type="http://schemas.openxmlformats.org/officeDocument/2006/relationships/font" Target="fonts/SpaceGrotesk-regular.fntdata"/><Relationship Id="rId23" Type="http://schemas.openxmlformats.org/officeDocument/2006/relationships/font" Target="fonts/JetBrainsMon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SpaceGrotesk-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IBMPlexSans-bold.fntdata"/><Relationship Id="rId16" Type="http://schemas.openxmlformats.org/officeDocument/2006/relationships/font" Target="fonts/IBMPlexSans-regular.fntdata"/><Relationship Id="rId19" Type="http://schemas.openxmlformats.org/officeDocument/2006/relationships/font" Target="fonts/IBMPlexSans-boldItalic.fntdata"/><Relationship Id="rId18" Type="http://schemas.openxmlformats.org/officeDocument/2006/relationships/font" Target="fonts/IBMPlex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Pause on the title, then go straight into the hook on the next slide.</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Imagine you're driving and the battery sensor displays 200 °C. Is it a thermal runaway? A faulty sensor? Or a broken link somewhere in the system? Each one needs a different reaction, and a wrong guess is dangerous either way. 200 °C is not an answer. It's a safety question, and our Revolution of Mobility Guardian answers it.</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But even when a system does the right thing, a decision that can't be proven can't be trusted. Let it land, then move on.</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Carmakers, suppliers and their battery-monitoring teams need to prove their battery monitoring works. Today that proof is slow and manual, and it's hard to repeat whenever the software changes. We make it automatic and reusable, and we've packaged it as an SDV Blueprint. Describe a fault in a simple file, run it, and get a verdict you can trace [from the injected fault to the diagnostic record].</a:t>
            </a:r>
            <a:endParaRPr/>
          </a:p>
        </p:txBody>
      </p:sp>
      <p:sp>
        <p:nvSpPr>
          <p:cNvPr id="55" name="Google Shape;5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Sense, decide, diagnose, and test. Four cells report temperature: one from real hardware, three simulated. The Guardian judges every cell. Faults become diagnostic records anyone can read. And we inject faults on purpose, so the system grades itself.</a:t>
            </a:r>
            <a:endParaRPr/>
          </a:p>
        </p:txBody>
      </p:sp>
      <p:sp>
        <p:nvSpPr>
          <p:cNvPr id="73" name="Google Shape;7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it left to right. Ankaios orchestrates the stack and the fault injector targets the simulator, the uProtocol client and the DFM. Cell 1 is real hardware, an AZ3166 board on Eclipse ThreadX, connected through an adapter; cells 2 to 4 come from the simulator. Both land in the Eclipse KUKSA Databroker. The VSS uProtocol client feeds the Battery Thermal Guardian, which drives the board, sends faults through the fault-lib DFM into Eclipse OpenSOVD over SOVD REST, and reports to the Evidence Collector, which feeds the dashboard.</a:t>
            </a:r>
            <a:endParaRPr/>
          </a:p>
        </p:txBody>
      </p:sp>
      <p:sp>
        <p:nvSpPr>
          <p:cNvPr id="96" name="Google Shape;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input is hybrid. Cell 1 is real hardware, a board running Eclipse ThreadX. Cells 2 to 4 are simulated, which gives us one common signal format, and from there everything travels over Eclipse uProtocol. To the Guardian, real and simulated cells look the same, so we can break the simulated cells on purpose while real hardware keeps feeding it.</a:t>
            </a:r>
            <a:endParaRPr/>
          </a:p>
        </p:txBody>
      </p:sp>
      <p:sp>
        <p:nvSpPr>
          <p:cNvPr id="106" name="Google Shape;1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fault injector reads campaigns from simple YAML files: stuck sensors, dropped messages, a dead diagnostic write. It marks the start and end of each run, so the system can grade itself. Eclipse Ankaios runs the whole stack and every campaign with one command, and a dashboard lets you watch faults yourself. Let me show you.</a:t>
            </a:r>
            <a:endParaRPr/>
          </a:p>
        </p:txBody>
      </p:sp>
      <p:sp>
        <p:nvSpPr>
          <p:cNvPr id="125" name="Google Shape;12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Pause on this. Point at Cell 3: is it a fire, a bad sensor, or a broken link? Instead of guessing, we break it ourselves and watch what the Guardian does. Then switch to the dashboard. About three minutes. Show a campaign running, the Guardian verdict, and the fault appearing in OpenSOVD.</a:t>
            </a:r>
            <a:endParaRPr/>
          </a:p>
        </p:txBody>
      </p:sp>
      <p:sp>
        <p:nvSpPr>
          <p:cNvPr id="145" name="Google Shape;1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recap of what's implemented: the Battery Thermal Guardian itself; a stale or stuck cell signal must not silently disarm the warning; heartbeat, fault and mitigation events over uProtocol; diagnostic truth through OpenSOVD; everything supervised by Ankaios; and repeatable fault campaigns at three levels.</a:t>
            </a:r>
            <a:endParaRPr/>
          </a:p>
        </p:txBody>
      </p:sp>
      <p:sp>
        <p:nvSpPr>
          <p:cNvPr id="153" name="Google Shape;1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Everything you just saw [runs automatically on every pull request], so this isn't a demo that worked once, it's proof you can re-run on every change. And it doesn't stop with us. It's built on open Eclipse projects, and it's available as an SDV Blueprint, so others can take the whole setup, from the Guardian to the evidence, and point it at their own hazards. A new hazard is just a new YAML file. So, 200 °C. Not a number to guess. A question to answer, and then prove.</a:t>
            </a:r>
            <a:endParaRPr/>
          </a:p>
        </p:txBody>
      </p:sp>
      <p:sp>
        <p:nvSpPr>
          <p:cNvPr id="184" name="Google Shape;18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0E1A24"/>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812800" y="1112520"/>
            <a:ext cx="10566400" cy="16002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rgbClr val="F4F2EC"/>
              </a:buClr>
              <a:buSzPts val="6000"/>
              <a:buFont typeface="Space Grotesk"/>
              <a:buNone/>
              <a:defRPr sz="6000">
                <a:solidFill>
                  <a:srgbClr val="F4F2EC"/>
                </a:solidFill>
                <a:latin typeface="Space Grotesk"/>
                <a:ea typeface="Space Grotesk"/>
                <a:cs typeface="Space Grotesk"/>
                <a:sym typeface="Space Grotes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812800" y="3017520"/>
            <a:ext cx="10566400" cy="302768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4F2EC"/>
              </a:buClr>
              <a:buSzPts val="1600"/>
              <a:buNone/>
              <a:defRPr sz="1600">
                <a:solidFill>
                  <a:srgbClr val="F4F2EC"/>
                </a:solidFill>
                <a:latin typeface="IBM Plex Sans"/>
                <a:ea typeface="IBM Plex Sans"/>
                <a:cs typeface="IBM Plex Sans"/>
                <a:sym typeface="IBM Plex Sans"/>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dk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24"/>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12800" y="1112520"/>
            <a:ext cx="10566400" cy="1600200"/>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rgbClr val="F4F2EC"/>
              </a:buClr>
              <a:buSzPts val="6000"/>
              <a:buFont typeface="Space Grotesk"/>
              <a:buNone/>
              <a:defRPr b="0" i="0" sz="6000" u="none" cap="none" strike="noStrike">
                <a:solidFill>
                  <a:srgbClr val="F4F2EC"/>
                </a:solidFill>
                <a:latin typeface="Space Grotesk"/>
                <a:ea typeface="Space Grotesk"/>
                <a:cs typeface="Space Grotesk"/>
                <a:sym typeface="Space Grotes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12800" y="3017520"/>
            <a:ext cx="10566400" cy="302768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F4F2EC"/>
              </a:buClr>
              <a:buSzPts val="1600"/>
              <a:buFont typeface="Arial"/>
              <a:buNone/>
              <a:defRPr b="0" i="0" sz="1600" u="none" cap="none" strike="noStrike">
                <a:solidFill>
                  <a:srgbClr val="F4F2EC"/>
                </a:solidFill>
                <a:latin typeface="IBM Plex Sans"/>
                <a:ea typeface="IBM Plex Sans"/>
                <a:cs typeface="IBM Plex Sans"/>
                <a:sym typeface="IBM Plex Sans"/>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IBM Plex Sans"/>
                <a:ea typeface="IBM Plex Sans"/>
                <a:cs typeface="IBM Plex Sans"/>
                <a:sym typeface="IBM Plex Sans"/>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IBM Plex Sans"/>
                <a:ea typeface="IBM Plex Sans"/>
                <a:cs typeface="IBM Plex Sans"/>
                <a:sym typeface="IBM Plex Sans"/>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IBM Plex Sans"/>
                <a:ea typeface="IBM Plex Sans"/>
                <a:cs typeface="IBM Plex Sans"/>
                <a:sym typeface="IBM Plex Sans"/>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IBM Plex Sans"/>
                <a:ea typeface="IBM Plex Sans"/>
                <a:cs typeface="IBM Plex Sans"/>
                <a:sym typeface="IBM Plex Sans"/>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IBM Plex Sans"/>
                <a:ea typeface="IBM Plex Sans"/>
                <a:cs typeface="IBM Plex Sans"/>
                <a:sym typeface="IBM Plex Sans"/>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IBM Plex Sans"/>
                <a:ea typeface="IBM Plex Sans"/>
                <a:cs typeface="IBM Plex Sans"/>
                <a:sym typeface="IBM Plex Sans"/>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IBM Plex Sans"/>
                <a:ea typeface="IBM Plex Sans"/>
                <a:cs typeface="IBM Plex Sans"/>
                <a:sym typeface="IBM Plex Sans"/>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24"/>
        </a:solidFill>
      </p:bgPr>
    </p:bg>
    <p:spTree>
      <p:nvGrpSpPr>
        <p:cNvPr id="20" name="Shape 20"/>
        <p:cNvGrpSpPr/>
        <p:nvPr/>
      </p:nvGrpSpPr>
      <p:grpSpPr>
        <a:xfrm>
          <a:off x="0" y="0"/>
          <a:ext cx="0" cy="0"/>
          <a:chOff x="0" y="0"/>
          <a:chExt cx="0" cy="0"/>
        </a:xfrm>
      </p:grpSpPr>
      <p:sp>
        <p:nvSpPr>
          <p:cNvPr id="21" name="Google Shape;21;p4"/>
          <p:cNvSpPr/>
          <p:nvPr/>
        </p:nvSpPr>
        <p:spPr>
          <a:xfrm>
            <a:off x="0" y="0"/>
            <a:ext cx="152400" cy="6858000"/>
          </a:xfrm>
          <a:prstGeom prst="rect">
            <a:avLst/>
          </a:prstGeom>
          <a:gradFill>
            <a:gsLst>
              <a:gs pos="0">
                <a:srgbClr val="FF6B2C"/>
              </a:gs>
              <a:gs pos="100000">
                <a:srgbClr val="FFB347"/>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812800" y="1967230"/>
            <a:ext cx="10883392"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6B2C"/>
              </a:buClr>
              <a:buSzPts val="1400"/>
              <a:buFont typeface="JetBrains Mono"/>
              <a:buNone/>
            </a:pPr>
            <a:r>
              <a:rPr b="0" i="0" lang="en-US" spc="200" sz="1400" u="none" cap="none" strike="noStrike">
                <a:solidFill>
                  <a:srgbClr val="FF6B2C"/>
                </a:solidFill>
                <a:latin typeface="JetBrains Mono"/>
                <a:ea typeface="JetBrains Mono"/>
                <a:cs typeface="JetBrains Mono"/>
                <a:sym typeface="JetBrains Mono"/>
              </a:rPr>
              <a:t>HACKATHON · SDV BLUEPRINT</a:t>
            </a:r>
            <a:endParaRPr b="0" i="0" sz="1400" u="none" cap="none" strike="noStrike">
              <a:solidFill>
                <a:schemeClr val="lt1"/>
              </a:solidFill>
              <a:latin typeface="IBM Plex Sans"/>
              <a:ea typeface="IBM Plex Sans"/>
              <a:cs typeface="IBM Plex Sans"/>
              <a:sym typeface="IBM Plex Sans"/>
            </a:endParaRPr>
          </a:p>
        </p:txBody>
      </p:sp>
      <p:sp>
        <p:nvSpPr>
          <p:cNvPr id="23" name="Google Shape;23;p4"/>
          <p:cNvSpPr txBox="1"/>
          <p:nvPr>
            <p:ph type="title"/>
          </p:nvPr>
        </p:nvSpPr>
        <p:spPr>
          <a:xfrm>
            <a:off x="812800" y="2470150"/>
            <a:ext cx="10883392" cy="16256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4F2EC"/>
              </a:buClr>
              <a:buSzPts val="6000"/>
              <a:buFont typeface="Space Grotesk"/>
              <a:buNone/>
            </a:pPr>
            <a:r>
              <a:rPr b="1" i="0" lang="en-US" spc="-100" sz="6000">
                <a:solidFill>
                  <a:srgbClr val="F4F2EC"/>
                </a:solidFill>
                <a:latin typeface="Space Grotesk"/>
                <a:ea typeface="Space Grotesk"/>
                <a:cs typeface="Space Grotesk"/>
                <a:sym typeface="Space Grotesk"/>
              </a:rPr>
              <a:t>Battery Thermal</a:t>
            </a:r>
            <a:endParaRPr sz="6000"/>
          </a:p>
          <a:p>
            <a:pPr indent="0" lvl="0" marL="0" rtl="0" algn="l">
              <a:lnSpc>
                <a:spcPct val="104999"/>
              </a:lnSpc>
              <a:spcBef>
                <a:spcPts val="0"/>
              </a:spcBef>
              <a:spcAft>
                <a:spcPts val="0"/>
              </a:spcAft>
              <a:buClr>
                <a:srgbClr val="F4F2EC"/>
              </a:buClr>
              <a:buSzPts val="6000"/>
              <a:buFont typeface="Space Grotesk"/>
              <a:buNone/>
            </a:pPr>
            <a:r>
              <a:rPr b="1" i="0" lang="en-US" spc="-100" sz="6000">
                <a:solidFill>
                  <a:srgbClr val="F4F2EC"/>
                </a:solidFill>
                <a:latin typeface="Space Grotesk"/>
                <a:ea typeface="Space Grotesk"/>
                <a:cs typeface="Space Grotesk"/>
                <a:sym typeface="Space Grotesk"/>
              </a:rPr>
              <a:t>Guardian</a:t>
            </a:r>
            <a:endParaRPr sz="6000"/>
          </a:p>
        </p:txBody>
      </p:sp>
      <p:sp>
        <p:nvSpPr>
          <p:cNvPr id="24" name="Google Shape;24;p4"/>
          <p:cNvSpPr/>
          <p:nvPr/>
        </p:nvSpPr>
        <p:spPr>
          <a:xfrm>
            <a:off x="812800" y="4324350"/>
            <a:ext cx="9906000" cy="388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8C4CE"/>
              </a:buClr>
              <a:buSzPts val="2200"/>
              <a:buFont typeface="IBM Plex Sans"/>
              <a:buNone/>
            </a:pPr>
            <a:r>
              <a:rPr b="0" i="0" lang="en-US" sz="2200" u="none" cap="none" strike="noStrike">
                <a:solidFill>
                  <a:srgbClr val="B8C4CE"/>
                </a:solidFill>
                <a:latin typeface="IBM Plex Sans"/>
                <a:ea typeface="IBM Plex Sans"/>
                <a:cs typeface="IBM Plex Sans"/>
                <a:sym typeface="IBM Plex Sans"/>
              </a:rPr>
              <a:t>Thermal-runaway early warning you can prove, on every change.</a:t>
            </a:r>
            <a:endParaRPr b="0" i="0" sz="2200" u="none" cap="none" strike="noStrike">
              <a:solidFill>
                <a:schemeClr val="lt1"/>
              </a:solidFill>
              <a:latin typeface="IBM Plex Sans"/>
              <a:ea typeface="IBM Plex Sans"/>
              <a:cs typeface="IBM Plex Sans"/>
              <a:sym typeface="IBM Plex Sans"/>
            </a:endParaRPr>
          </a:p>
        </p:txBody>
      </p:sp>
      <p:sp>
        <p:nvSpPr>
          <p:cNvPr id="25" name="Google Shape;25;p4"/>
          <p:cNvSpPr/>
          <p:nvPr/>
        </p:nvSpPr>
        <p:spPr>
          <a:xfrm>
            <a:off x="812800" y="623824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C8B98"/>
              </a:buClr>
              <a:buSzPts val="1200"/>
              <a:buFont typeface="IBM Plex Sans"/>
              <a:buNone/>
            </a:pPr>
            <a:r>
              <a:rPr b="0" i="0" lang="en-US" sz="1200" u="none" cap="none" strike="noStrike">
                <a:solidFill>
                  <a:srgbClr val="7C8B98"/>
                </a:solidFill>
                <a:latin typeface="IBM Plex Sans"/>
                <a:ea typeface="IBM Plex Sans"/>
                <a:cs typeface="IBM Plex Sans"/>
                <a:sym typeface="IBM Plex Sans"/>
              </a:rPr>
              <a:t>Revolution of Mobility · [Team name] · Built on open Eclipse projects</a:t>
            </a:r>
            <a:endParaRPr b="0" i="0" sz="12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24"/>
        </a:solidFill>
      </p:bgPr>
    </p:bg>
    <p:spTree>
      <p:nvGrpSpPr>
        <p:cNvPr id="30" name="Shape 30"/>
        <p:cNvGrpSpPr/>
        <p:nvPr/>
      </p:nvGrpSpPr>
      <p:grpSpPr>
        <a:xfrm>
          <a:off x="0" y="0"/>
          <a:ext cx="0" cy="0"/>
          <a:chOff x="0" y="0"/>
          <a:chExt cx="0" cy="0"/>
        </a:xfrm>
      </p:grpSpPr>
      <p:sp>
        <p:nvSpPr>
          <p:cNvPr id="31" name="Google Shape;31;p5"/>
          <p:cNvSpPr/>
          <p:nvPr/>
        </p:nvSpPr>
        <p:spPr>
          <a:xfrm>
            <a:off x="812800" y="812800"/>
            <a:ext cx="10883392"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JetBrains Mono"/>
              <a:buNone/>
            </a:pPr>
            <a:r>
              <a:rPr b="0" i="0" lang="en-US" spc="100" sz="1400" u="none" cap="none" strike="noStrike">
                <a:solidFill>
                  <a:srgbClr val="B8C4CE"/>
                </a:solidFill>
                <a:latin typeface="JetBrains Mono"/>
                <a:ea typeface="JetBrains Mono"/>
                <a:cs typeface="JetBrains Mono"/>
                <a:sym typeface="JetBrains Mono"/>
              </a:rPr>
              <a:t>BATTERY SENSOR · CELL 3</a:t>
            </a:r>
            <a:endParaRPr b="0" i="0" sz="1400" u="none" cap="none" strike="noStrike">
              <a:solidFill>
                <a:schemeClr val="lt1"/>
              </a:solidFill>
              <a:latin typeface="IBM Plex Sans"/>
              <a:ea typeface="IBM Plex Sans"/>
              <a:cs typeface="IBM Plex Sans"/>
              <a:sym typeface="IBM Plex Sans"/>
            </a:endParaRPr>
          </a:p>
        </p:txBody>
      </p:sp>
      <p:sp>
        <p:nvSpPr>
          <p:cNvPr id="32" name="Google Shape;32;p5"/>
          <p:cNvSpPr txBox="1"/>
          <p:nvPr>
            <p:ph type="title"/>
          </p:nvPr>
        </p:nvSpPr>
        <p:spPr>
          <a:xfrm>
            <a:off x="812800" y="1112520"/>
            <a:ext cx="10883392" cy="2057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F6B2C"/>
              </a:buClr>
              <a:buSzPts val="16000"/>
              <a:buFont typeface="Space Grotesk"/>
              <a:buNone/>
            </a:pPr>
            <a:r>
              <a:rPr b="1" i="0" lang="en-US" spc="-400" sz="16000">
                <a:solidFill>
                  <a:srgbClr val="FF6B2C"/>
                </a:solidFill>
                <a:latin typeface="Space Grotesk"/>
                <a:ea typeface="Space Grotesk"/>
                <a:cs typeface="Space Grotesk"/>
                <a:sym typeface="Space Grotesk"/>
              </a:rPr>
              <a:t>200 °C</a:t>
            </a:r>
            <a:endParaRPr sz="16000"/>
          </a:p>
        </p:txBody>
      </p:sp>
      <p:sp>
        <p:nvSpPr>
          <p:cNvPr id="33" name="Google Shape;33;p5"/>
          <p:cNvSpPr/>
          <p:nvPr/>
        </p:nvSpPr>
        <p:spPr>
          <a:xfrm>
            <a:off x="812800" y="4591303"/>
            <a:ext cx="3386646" cy="1453896"/>
          </a:xfrm>
          <a:prstGeom prst="roundRect">
            <a:avLst>
              <a:gd fmla="val 6988" name="adj"/>
            </a:avLst>
          </a:prstGeom>
          <a:solidFill>
            <a:srgbClr val="16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a:off x="812800" y="4591303"/>
            <a:ext cx="3386646" cy="1453896"/>
          </a:xfrm>
          <a:custGeom>
            <a:rect b="b" l="l" r="r" t="t"/>
            <a:pathLst>
              <a:path extrusionOk="0" h="1453896" w="3386646">
                <a:moveTo>
                  <a:pt x="0" y="101600"/>
                </a:moveTo>
                <a:lnTo>
                  <a:pt x="0" y="101600"/>
                </a:lnTo>
                <a:cubicBezTo>
                  <a:pt x="0" y="45488"/>
                  <a:pt x="45488" y="0"/>
                  <a:pt x="101600" y="0"/>
                </a:cubicBezTo>
                <a:lnTo>
                  <a:pt x="3285046" y="0"/>
                </a:lnTo>
                <a:cubicBezTo>
                  <a:pt x="3311992" y="0"/>
                  <a:pt x="3337834" y="10704"/>
                  <a:pt x="3356888" y="29758"/>
                </a:cubicBezTo>
                <a:cubicBezTo>
                  <a:pt x="3375942" y="48812"/>
                  <a:pt x="3386646" y="74654"/>
                  <a:pt x="3386646" y="101600"/>
                </a:cubicBezTo>
                <a:lnTo>
                  <a:pt x="3386646" y="101600"/>
                </a:lnTo>
                <a:cubicBezTo>
                  <a:pt x="3386646" y="66530"/>
                  <a:pt x="3341158" y="38100"/>
                  <a:pt x="3285046" y="38100"/>
                </a:cubicBezTo>
                <a:lnTo>
                  <a:pt x="101600" y="38100"/>
                </a:lnTo>
                <a:cubicBezTo>
                  <a:pt x="45488" y="38100"/>
                  <a:pt x="0" y="66530"/>
                  <a:pt x="0" y="101600"/>
                </a:cubicBezTo>
                <a:close/>
              </a:path>
            </a:pathLst>
          </a:custGeom>
          <a:solidFill>
            <a:srgbClr val="FF6B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1066800" y="4881880"/>
            <a:ext cx="2965005"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200"/>
              <a:buFont typeface="Space Grotesk"/>
              <a:buNone/>
            </a:pPr>
            <a:r>
              <a:rPr b="1" i="0" lang="en-US" sz="2200" u="none" cap="none" strike="noStrike">
                <a:solidFill>
                  <a:srgbClr val="F4F2EC"/>
                </a:solidFill>
                <a:latin typeface="Space Grotesk"/>
                <a:ea typeface="Space Grotesk"/>
                <a:cs typeface="Space Grotesk"/>
                <a:sym typeface="Space Grotesk"/>
              </a:rPr>
              <a:t>Thermal runaway?</a:t>
            </a:r>
            <a:endParaRPr b="0" i="0" sz="2200" u="none" cap="none" strike="noStrike">
              <a:solidFill>
                <a:schemeClr val="lt1"/>
              </a:solidFill>
              <a:latin typeface="IBM Plex Sans"/>
              <a:ea typeface="IBM Plex Sans"/>
              <a:cs typeface="IBM Plex Sans"/>
              <a:sym typeface="IBM Plex Sans"/>
            </a:endParaRPr>
          </a:p>
        </p:txBody>
      </p:sp>
      <p:sp>
        <p:nvSpPr>
          <p:cNvPr id="36" name="Google Shape;36;p5"/>
          <p:cNvSpPr/>
          <p:nvPr/>
        </p:nvSpPr>
        <p:spPr>
          <a:xfrm>
            <a:off x="1066800" y="5293360"/>
            <a:ext cx="3132646"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Warn the driver, cool the pack, now.</a:t>
            </a:r>
            <a:endParaRPr b="0" i="0" sz="1400" u="none" cap="none" strike="noStrike">
              <a:solidFill>
                <a:schemeClr val="lt1"/>
              </a:solidFill>
              <a:latin typeface="IBM Plex Sans"/>
              <a:ea typeface="IBM Plex Sans"/>
              <a:cs typeface="IBM Plex Sans"/>
              <a:sym typeface="IBM Plex Sans"/>
            </a:endParaRPr>
          </a:p>
        </p:txBody>
      </p:sp>
      <p:sp>
        <p:nvSpPr>
          <p:cNvPr id="37" name="Google Shape;37;p5"/>
          <p:cNvSpPr/>
          <p:nvPr/>
        </p:nvSpPr>
        <p:spPr>
          <a:xfrm>
            <a:off x="4402645" y="4591303"/>
            <a:ext cx="3386709" cy="1453896"/>
          </a:xfrm>
          <a:prstGeom prst="roundRect">
            <a:avLst>
              <a:gd fmla="val 6988" name="adj"/>
            </a:avLst>
          </a:prstGeom>
          <a:solidFill>
            <a:srgbClr val="16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4402645" y="4591303"/>
            <a:ext cx="3386709" cy="1453896"/>
          </a:xfrm>
          <a:custGeom>
            <a:rect b="b" l="l" r="r" t="t"/>
            <a:pathLst>
              <a:path extrusionOk="0" h="1453896" w="3386709">
                <a:moveTo>
                  <a:pt x="0" y="101600"/>
                </a:moveTo>
                <a:lnTo>
                  <a:pt x="0" y="101600"/>
                </a:lnTo>
                <a:cubicBezTo>
                  <a:pt x="0" y="45488"/>
                  <a:pt x="45488" y="0"/>
                  <a:pt x="101600" y="0"/>
                </a:cubicBezTo>
                <a:lnTo>
                  <a:pt x="3285109" y="0"/>
                </a:lnTo>
                <a:cubicBezTo>
                  <a:pt x="3312055" y="0"/>
                  <a:pt x="3337897" y="10704"/>
                  <a:pt x="3356951" y="29758"/>
                </a:cubicBezTo>
                <a:cubicBezTo>
                  <a:pt x="3376005" y="48812"/>
                  <a:pt x="3386709" y="74654"/>
                  <a:pt x="3386709" y="101600"/>
                </a:cubicBezTo>
                <a:lnTo>
                  <a:pt x="3386709" y="101600"/>
                </a:lnTo>
                <a:cubicBezTo>
                  <a:pt x="3386709" y="66530"/>
                  <a:pt x="3341221" y="38100"/>
                  <a:pt x="3285109" y="38100"/>
                </a:cubicBezTo>
                <a:lnTo>
                  <a:pt x="101600" y="38100"/>
                </a:lnTo>
                <a:cubicBezTo>
                  <a:pt x="45488" y="38100"/>
                  <a:pt x="0" y="66530"/>
                  <a:pt x="0" y="101600"/>
                </a:cubicBezTo>
                <a:close/>
              </a:path>
            </a:pathLst>
          </a:custGeom>
          <a:solidFill>
            <a:srgbClr val="FFB3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4656645" y="4881880"/>
            <a:ext cx="2965070"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200"/>
              <a:buFont typeface="Space Grotesk"/>
              <a:buNone/>
            </a:pPr>
            <a:r>
              <a:rPr b="1" i="0" lang="en-US" sz="2200" u="none" cap="none" strike="noStrike">
                <a:solidFill>
                  <a:srgbClr val="F4F2EC"/>
                </a:solidFill>
                <a:latin typeface="Space Grotesk"/>
                <a:ea typeface="Space Grotesk"/>
                <a:cs typeface="Space Grotesk"/>
                <a:sym typeface="Space Grotesk"/>
              </a:rPr>
              <a:t>Faulty sensor?</a:t>
            </a:r>
            <a:endParaRPr b="0" i="0" sz="2200" u="none" cap="none" strike="noStrike">
              <a:solidFill>
                <a:schemeClr val="lt1"/>
              </a:solidFill>
              <a:latin typeface="IBM Plex Sans"/>
              <a:ea typeface="IBM Plex Sans"/>
              <a:cs typeface="IBM Plex Sans"/>
              <a:sym typeface="IBM Plex Sans"/>
            </a:endParaRPr>
          </a:p>
        </p:txBody>
      </p:sp>
      <p:sp>
        <p:nvSpPr>
          <p:cNvPr id="40" name="Google Shape;40;p5"/>
          <p:cNvSpPr/>
          <p:nvPr/>
        </p:nvSpPr>
        <p:spPr>
          <a:xfrm>
            <a:off x="4656645" y="5293360"/>
            <a:ext cx="2965070"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Don't trust it, and don't go blind either.</a:t>
            </a:r>
            <a:endParaRPr b="0" i="0" sz="1400" u="none" cap="none" strike="noStrike">
              <a:solidFill>
                <a:schemeClr val="lt1"/>
              </a:solidFill>
              <a:latin typeface="IBM Plex Sans"/>
              <a:ea typeface="IBM Plex Sans"/>
              <a:cs typeface="IBM Plex Sans"/>
              <a:sym typeface="IBM Plex Sans"/>
            </a:endParaRPr>
          </a:p>
        </p:txBody>
      </p:sp>
      <p:sp>
        <p:nvSpPr>
          <p:cNvPr id="41" name="Google Shape;41;p5"/>
          <p:cNvSpPr/>
          <p:nvPr/>
        </p:nvSpPr>
        <p:spPr>
          <a:xfrm>
            <a:off x="7992554" y="4591303"/>
            <a:ext cx="3386646" cy="1453896"/>
          </a:xfrm>
          <a:prstGeom prst="roundRect">
            <a:avLst>
              <a:gd fmla="val 6988" name="adj"/>
            </a:avLst>
          </a:prstGeom>
          <a:solidFill>
            <a:srgbClr val="16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7992554" y="4591303"/>
            <a:ext cx="3386646" cy="1453896"/>
          </a:xfrm>
          <a:custGeom>
            <a:rect b="b" l="l" r="r" t="t"/>
            <a:pathLst>
              <a:path extrusionOk="0" h="1453896" w="3386646">
                <a:moveTo>
                  <a:pt x="0" y="101600"/>
                </a:moveTo>
                <a:lnTo>
                  <a:pt x="0" y="101600"/>
                </a:lnTo>
                <a:cubicBezTo>
                  <a:pt x="0" y="45488"/>
                  <a:pt x="45488" y="0"/>
                  <a:pt x="101600" y="0"/>
                </a:cubicBezTo>
                <a:lnTo>
                  <a:pt x="3285046" y="0"/>
                </a:lnTo>
                <a:cubicBezTo>
                  <a:pt x="3311992" y="0"/>
                  <a:pt x="3337834" y="10704"/>
                  <a:pt x="3356888" y="29758"/>
                </a:cubicBezTo>
                <a:cubicBezTo>
                  <a:pt x="3375942" y="48812"/>
                  <a:pt x="3386646" y="74654"/>
                  <a:pt x="3386646" y="101600"/>
                </a:cubicBezTo>
                <a:lnTo>
                  <a:pt x="3386646" y="101600"/>
                </a:lnTo>
                <a:cubicBezTo>
                  <a:pt x="3386646" y="66530"/>
                  <a:pt x="3341158" y="38100"/>
                  <a:pt x="3285046" y="38100"/>
                </a:cubicBezTo>
                <a:lnTo>
                  <a:pt x="101600" y="38100"/>
                </a:lnTo>
                <a:cubicBezTo>
                  <a:pt x="45488" y="38100"/>
                  <a:pt x="0" y="66530"/>
                  <a:pt x="0" y="101600"/>
                </a:cubicBezTo>
                <a:close/>
              </a:path>
            </a:pathLst>
          </a:custGeom>
          <a:solidFill>
            <a:srgbClr val="7C8B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246554" y="4881880"/>
            <a:ext cx="2965005"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200"/>
              <a:buFont typeface="Space Grotesk"/>
              <a:buNone/>
            </a:pPr>
            <a:r>
              <a:rPr b="1" i="0" lang="en-US" sz="2200" u="none" cap="none" strike="noStrike">
                <a:solidFill>
                  <a:srgbClr val="F4F2EC"/>
                </a:solidFill>
                <a:latin typeface="Space Grotesk"/>
                <a:ea typeface="Space Grotesk"/>
                <a:cs typeface="Space Grotesk"/>
                <a:sym typeface="Space Grotesk"/>
              </a:rPr>
              <a:t>Broken link?</a:t>
            </a:r>
            <a:endParaRPr b="0" i="0" sz="2200" u="none" cap="none" strike="noStrike">
              <a:solidFill>
                <a:schemeClr val="lt1"/>
              </a:solidFill>
              <a:latin typeface="IBM Plex Sans"/>
              <a:ea typeface="IBM Plex Sans"/>
              <a:cs typeface="IBM Plex Sans"/>
              <a:sym typeface="IBM Plex Sans"/>
            </a:endParaRPr>
          </a:p>
        </p:txBody>
      </p:sp>
      <p:sp>
        <p:nvSpPr>
          <p:cNvPr id="44" name="Google Shape;44;p5"/>
          <p:cNvSpPr/>
          <p:nvPr/>
        </p:nvSpPr>
        <p:spPr>
          <a:xfrm>
            <a:off x="8246554" y="5293360"/>
            <a:ext cx="2965005"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The signal never arrived the way it left.</a:t>
            </a:r>
            <a:endParaRPr b="0" i="0" sz="14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B2C"/>
        </a:solidFill>
      </p:bgPr>
    </p:bg>
    <p:spTree>
      <p:nvGrpSpPr>
        <p:cNvPr id="49" name="Shape 49"/>
        <p:cNvGrpSpPr/>
        <p:nvPr/>
      </p:nvGrpSpPr>
      <p:grpSpPr>
        <a:xfrm>
          <a:off x="0" y="0"/>
          <a:ext cx="0" cy="0"/>
          <a:chOff x="0" y="0"/>
          <a:chExt cx="0" cy="0"/>
        </a:xfrm>
      </p:grpSpPr>
      <p:sp>
        <p:nvSpPr>
          <p:cNvPr id="50" name="Google Shape;50;p6"/>
          <p:cNvSpPr/>
          <p:nvPr/>
        </p:nvSpPr>
        <p:spPr>
          <a:xfrm>
            <a:off x="812800" y="2352039"/>
            <a:ext cx="10883392"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1A24"/>
              </a:buClr>
              <a:buSzPts val="1400"/>
              <a:buFont typeface="JetBrains Mono"/>
              <a:buNone/>
            </a:pPr>
            <a:r>
              <a:rPr b="0" i="0" lang="en-US" spc="200" sz="1400" u="none" cap="none" strike="noStrike">
                <a:solidFill>
                  <a:srgbClr val="0E1A24"/>
                </a:solidFill>
                <a:latin typeface="JetBrains Mono"/>
                <a:ea typeface="JetBrains Mono"/>
                <a:cs typeface="JetBrains Mono"/>
                <a:sym typeface="JetBrains Mono"/>
              </a:rPr>
              <a:t>EVEN WHEN THE SYSTEM DOES THE RIGHT THING</a:t>
            </a:r>
            <a:endParaRPr b="0" i="0" sz="1400" u="none" cap="none" strike="noStrike">
              <a:solidFill>
                <a:schemeClr val="lt1"/>
              </a:solidFill>
              <a:latin typeface="IBM Plex Sans"/>
              <a:ea typeface="IBM Plex Sans"/>
              <a:cs typeface="IBM Plex Sans"/>
              <a:sym typeface="IBM Plex Sans"/>
            </a:endParaRPr>
          </a:p>
        </p:txBody>
      </p:sp>
      <p:sp>
        <p:nvSpPr>
          <p:cNvPr id="51" name="Google Shape;51;p6"/>
          <p:cNvSpPr txBox="1"/>
          <p:nvPr>
            <p:ph type="title"/>
          </p:nvPr>
        </p:nvSpPr>
        <p:spPr>
          <a:xfrm>
            <a:off x="812800" y="2905759"/>
            <a:ext cx="10883392" cy="16256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0E1A24"/>
              </a:buClr>
              <a:buSzPts val="6000"/>
              <a:buFont typeface="Space Grotesk"/>
              <a:buNone/>
            </a:pPr>
            <a:r>
              <a:rPr b="1" i="0" lang="en-US" spc="-100" sz="6000">
                <a:solidFill>
                  <a:srgbClr val="0E1A24"/>
                </a:solidFill>
                <a:latin typeface="Space Grotesk"/>
                <a:ea typeface="Space Grotesk"/>
                <a:cs typeface="Space Grotesk"/>
                <a:sym typeface="Space Grotesk"/>
              </a:rPr>
              <a:t>A decision that can't be proven can't be trusted.</a:t>
            </a:r>
            <a:endParaRPr sz="6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2EC"/>
        </a:solidFill>
      </p:bgPr>
    </p:bg>
    <p:spTree>
      <p:nvGrpSpPr>
        <p:cNvPr id="56" name="Shape 56"/>
        <p:cNvGrpSpPr/>
        <p:nvPr/>
      </p:nvGrpSpPr>
      <p:grpSpPr>
        <a:xfrm>
          <a:off x="0" y="0"/>
          <a:ext cx="0" cy="0"/>
          <a:chOff x="0" y="0"/>
          <a:chExt cx="0" cy="0"/>
        </a:xfrm>
      </p:grpSpPr>
      <p:sp>
        <p:nvSpPr>
          <p:cNvPr id="57" name="Google Shape;57;p7"/>
          <p:cNvSpPr/>
          <p:nvPr/>
        </p:nvSpPr>
        <p:spPr>
          <a:xfrm>
            <a:off x="812800" y="812800"/>
            <a:ext cx="10883392"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10C"/>
              </a:buClr>
              <a:buSzPts val="1300"/>
              <a:buFont typeface="JetBrains Mono"/>
              <a:buNone/>
            </a:pPr>
            <a:r>
              <a:rPr b="0" i="0" lang="en-US" spc="150" sz="1300" u="none" cap="none" strike="noStrike">
                <a:solidFill>
                  <a:srgbClr val="B8410C"/>
                </a:solidFill>
                <a:latin typeface="JetBrains Mono"/>
                <a:ea typeface="JetBrains Mono"/>
                <a:cs typeface="JetBrains Mono"/>
                <a:sym typeface="JetBrains Mono"/>
              </a:rPr>
              <a:t>WHO NEEDS THIS</a:t>
            </a:r>
            <a:endParaRPr b="0" i="0" sz="1300" u="none" cap="none" strike="noStrike">
              <a:solidFill>
                <a:schemeClr val="lt1"/>
              </a:solidFill>
              <a:latin typeface="IBM Plex Sans"/>
              <a:ea typeface="IBM Plex Sans"/>
              <a:cs typeface="IBM Plex Sans"/>
              <a:sym typeface="IBM Plex Sans"/>
            </a:endParaRPr>
          </a:p>
        </p:txBody>
      </p:sp>
      <p:sp>
        <p:nvSpPr>
          <p:cNvPr id="58" name="Google Shape;58;p7"/>
          <p:cNvSpPr txBox="1"/>
          <p:nvPr>
            <p:ph type="title"/>
          </p:nvPr>
        </p:nvSpPr>
        <p:spPr>
          <a:xfrm>
            <a:off x="812800" y="1145539"/>
            <a:ext cx="10883392" cy="1031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24"/>
              </a:buClr>
              <a:buSzPts val="3600"/>
              <a:buFont typeface="Space Grotesk"/>
              <a:buNone/>
            </a:pPr>
            <a:r>
              <a:rPr b="1" i="0" lang="en-US" sz="3600">
                <a:solidFill>
                  <a:srgbClr val="0E1A24"/>
                </a:solidFill>
                <a:latin typeface="Space Grotesk"/>
                <a:ea typeface="Space Grotesk"/>
                <a:cs typeface="Space Grotesk"/>
                <a:sym typeface="Space Grotesk"/>
              </a:rPr>
              <a:t>Carmakers, suppliers and their battery-monitoring teams</a:t>
            </a:r>
            <a:endParaRPr sz="3600"/>
          </a:p>
        </p:txBody>
      </p:sp>
      <p:sp>
        <p:nvSpPr>
          <p:cNvPr id="59" name="Google Shape;59;p7"/>
          <p:cNvSpPr/>
          <p:nvPr/>
        </p:nvSpPr>
        <p:spPr>
          <a:xfrm>
            <a:off x="812800" y="3085337"/>
            <a:ext cx="5181600" cy="1513840"/>
          </a:xfrm>
          <a:prstGeom prst="roundRect">
            <a:avLst>
              <a:gd fmla="val 6711" name="adj"/>
            </a:avLst>
          </a:prstGeom>
          <a:solidFill>
            <a:srgbClr val="E6E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a:off x="1066800" y="3339337"/>
            <a:ext cx="4813808"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5568"/>
              </a:buClr>
              <a:buSzPts val="2200"/>
              <a:buFont typeface="Space Grotesk"/>
              <a:buNone/>
            </a:pPr>
            <a:r>
              <a:rPr b="1" i="0" lang="en-US" sz="2200" u="none" cap="none" strike="noStrike">
                <a:solidFill>
                  <a:srgbClr val="4A5568"/>
                </a:solidFill>
                <a:latin typeface="Space Grotesk"/>
                <a:ea typeface="Space Grotesk"/>
                <a:cs typeface="Space Grotesk"/>
                <a:sym typeface="Space Grotesk"/>
              </a:rPr>
              <a:t>Today</a:t>
            </a:r>
            <a:endParaRPr b="0" i="0" sz="2200" u="none" cap="none" strike="noStrike">
              <a:solidFill>
                <a:schemeClr val="lt1"/>
              </a:solidFill>
              <a:latin typeface="IBM Plex Sans"/>
              <a:ea typeface="IBM Plex Sans"/>
              <a:cs typeface="IBM Plex Sans"/>
              <a:sym typeface="IBM Plex Sans"/>
            </a:endParaRPr>
          </a:p>
        </p:txBody>
      </p:sp>
      <p:sp>
        <p:nvSpPr>
          <p:cNvPr id="61" name="Google Shape;61;p7"/>
          <p:cNvSpPr/>
          <p:nvPr/>
        </p:nvSpPr>
        <p:spPr>
          <a:xfrm>
            <a:off x="1066800" y="3776218"/>
            <a:ext cx="4813808" cy="5943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Proving the monitoring works is slow and manual, and hard to repeat whenever the software changes.</a:t>
            </a:r>
            <a:endParaRPr b="0" i="0" sz="1600" u="none" cap="none" strike="noStrike">
              <a:solidFill>
                <a:schemeClr val="lt1"/>
              </a:solidFill>
              <a:latin typeface="IBM Plex Sans"/>
              <a:ea typeface="IBM Plex Sans"/>
              <a:cs typeface="IBM Plex Sans"/>
              <a:sym typeface="IBM Plex Sans"/>
            </a:endParaRPr>
          </a:p>
        </p:txBody>
      </p:sp>
      <p:sp>
        <p:nvSpPr>
          <p:cNvPr id="62" name="Google Shape;62;p7"/>
          <p:cNvSpPr/>
          <p:nvPr/>
        </p:nvSpPr>
        <p:spPr>
          <a:xfrm>
            <a:off x="6197600" y="3085337"/>
            <a:ext cx="5181600" cy="1513840"/>
          </a:xfrm>
          <a:prstGeom prst="roundRect">
            <a:avLst>
              <a:gd fmla="val 6711" name="adj"/>
            </a:avLst>
          </a:prstGeom>
          <a:solidFill>
            <a:srgbClr val="0E1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a:off x="6451600" y="3339337"/>
            <a:ext cx="4813808"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6B2C"/>
              </a:buClr>
              <a:buSzPts val="2200"/>
              <a:buFont typeface="Space Grotesk"/>
              <a:buNone/>
            </a:pPr>
            <a:r>
              <a:rPr b="1" i="0" lang="en-US" sz="2200" u="none" cap="none" strike="noStrike">
                <a:solidFill>
                  <a:srgbClr val="FF6B2C"/>
                </a:solidFill>
                <a:latin typeface="Space Grotesk"/>
                <a:ea typeface="Space Grotesk"/>
                <a:cs typeface="Space Grotesk"/>
                <a:sym typeface="Space Grotesk"/>
              </a:rPr>
              <a:t>With the Guardian</a:t>
            </a:r>
            <a:endParaRPr b="0" i="0" sz="2200" u="none" cap="none" strike="noStrike">
              <a:solidFill>
                <a:schemeClr val="lt1"/>
              </a:solidFill>
              <a:latin typeface="IBM Plex Sans"/>
              <a:ea typeface="IBM Plex Sans"/>
              <a:cs typeface="IBM Plex Sans"/>
              <a:sym typeface="IBM Plex Sans"/>
            </a:endParaRPr>
          </a:p>
        </p:txBody>
      </p:sp>
      <p:sp>
        <p:nvSpPr>
          <p:cNvPr id="64" name="Google Shape;64;p7"/>
          <p:cNvSpPr/>
          <p:nvPr/>
        </p:nvSpPr>
        <p:spPr>
          <a:xfrm>
            <a:off x="6451600" y="3776218"/>
            <a:ext cx="4813808" cy="5943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2EC"/>
              </a:buClr>
              <a:buSzPts val="1600"/>
              <a:buFont typeface="IBM Plex Sans"/>
              <a:buNone/>
            </a:pPr>
            <a:r>
              <a:rPr b="0" i="0" lang="en-US" sz="1600" u="none" cap="none" strike="noStrike">
                <a:solidFill>
                  <a:srgbClr val="F4F2EC"/>
                </a:solidFill>
                <a:latin typeface="IBM Plex Sans"/>
                <a:ea typeface="IBM Plex Sans"/>
                <a:cs typeface="IBM Plex Sans"/>
                <a:sym typeface="IBM Plex Sans"/>
              </a:rPr>
              <a:t>Automatic and reusable, packaged as an SDV Blueprint.</a:t>
            </a:r>
            <a:endParaRPr b="0" i="0" sz="1600" u="none" cap="none" strike="noStrike">
              <a:solidFill>
                <a:schemeClr val="lt1"/>
              </a:solidFill>
              <a:latin typeface="IBM Plex Sans"/>
              <a:ea typeface="IBM Plex Sans"/>
              <a:cs typeface="IBM Plex Sans"/>
              <a:sym typeface="IBM Plex Sans"/>
            </a:endParaRPr>
          </a:p>
        </p:txBody>
      </p:sp>
      <p:sp>
        <p:nvSpPr>
          <p:cNvPr id="65" name="Google Shape;65;p7"/>
          <p:cNvSpPr/>
          <p:nvPr/>
        </p:nvSpPr>
        <p:spPr>
          <a:xfrm>
            <a:off x="819150" y="5539485"/>
            <a:ext cx="3149790" cy="499364"/>
          </a:xfrm>
          <a:prstGeom prst="roundRect">
            <a:avLst>
              <a:gd fmla="val 50000" name="adj"/>
            </a:avLst>
          </a:prstGeom>
          <a:solidFill>
            <a:srgbClr val="FFFFFF"/>
          </a:solidFill>
          <a:ln cap="flat" cmpd="sng" w="12700">
            <a:solidFill>
              <a:srgbClr val="0E1A2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E1A24"/>
              </a:buClr>
              <a:buSzPts val="1600"/>
              <a:buFont typeface="IBM Plex Sans"/>
              <a:buNone/>
            </a:pPr>
            <a:r>
              <a:rPr b="1" i="0" lang="en-US" sz="1600" u="none" cap="none" strike="noStrike">
                <a:solidFill>
                  <a:srgbClr val="0E1A24"/>
                </a:solidFill>
                <a:latin typeface="IBM Plex Sans"/>
                <a:ea typeface="IBM Plex Sans"/>
                <a:cs typeface="IBM Plex Sans"/>
                <a:sym typeface="IBM Plex Sans"/>
              </a:rPr>
              <a:t>Describe a fault in a YAML file</a:t>
            </a:r>
            <a:endParaRPr b="0" i="0" sz="1600" u="none" cap="none" strike="noStrike">
              <a:solidFill>
                <a:schemeClr val="lt1"/>
              </a:solidFill>
              <a:latin typeface="IBM Plex Sans"/>
              <a:ea typeface="IBM Plex Sans"/>
              <a:cs typeface="IBM Plex Sans"/>
              <a:sym typeface="IBM Plex Sans"/>
            </a:endParaRPr>
          </a:p>
        </p:txBody>
      </p:sp>
      <p:pic>
        <p:nvPicPr>
          <p:cNvPr descr="arrow-right" id="66" name="Google Shape;66;p7"/>
          <p:cNvPicPr preferRelativeResize="0"/>
          <p:nvPr/>
        </p:nvPicPr>
        <p:blipFill rotWithShape="1">
          <a:blip r:embed="rId3">
            <a:alphaModFix/>
          </a:blip>
          <a:srcRect b="0" l="0" r="0" t="0"/>
          <a:stretch/>
        </p:blipFill>
        <p:spPr>
          <a:xfrm>
            <a:off x="4127690" y="5687566"/>
            <a:ext cx="406400" cy="203200"/>
          </a:xfrm>
          <a:prstGeom prst="rect">
            <a:avLst/>
          </a:prstGeom>
          <a:noFill/>
          <a:ln>
            <a:noFill/>
          </a:ln>
        </p:spPr>
      </p:pic>
      <p:sp>
        <p:nvSpPr>
          <p:cNvPr id="67" name="Google Shape;67;p7"/>
          <p:cNvSpPr/>
          <p:nvPr/>
        </p:nvSpPr>
        <p:spPr>
          <a:xfrm>
            <a:off x="4692840" y="5539485"/>
            <a:ext cx="921004" cy="499364"/>
          </a:xfrm>
          <a:prstGeom prst="roundRect">
            <a:avLst>
              <a:gd fmla="val 50000" name="adj"/>
            </a:avLst>
          </a:prstGeom>
          <a:solidFill>
            <a:srgbClr val="FFFFFF"/>
          </a:solidFill>
          <a:ln cap="flat" cmpd="sng" w="12700">
            <a:solidFill>
              <a:srgbClr val="0E1A2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E1A24"/>
              </a:buClr>
              <a:buSzPts val="1600"/>
              <a:buFont typeface="IBM Plex Sans"/>
              <a:buNone/>
            </a:pPr>
            <a:r>
              <a:rPr b="1" i="0" lang="en-US" sz="1600" u="none" cap="none" strike="noStrike">
                <a:solidFill>
                  <a:srgbClr val="0E1A24"/>
                </a:solidFill>
                <a:latin typeface="IBM Plex Sans"/>
                <a:ea typeface="IBM Plex Sans"/>
                <a:cs typeface="IBM Plex Sans"/>
                <a:sym typeface="IBM Plex Sans"/>
              </a:rPr>
              <a:t>Run it</a:t>
            </a:r>
            <a:endParaRPr b="0" i="0" sz="1600" u="none" cap="none" strike="noStrike">
              <a:solidFill>
                <a:schemeClr val="lt1"/>
              </a:solidFill>
              <a:latin typeface="IBM Plex Sans"/>
              <a:ea typeface="IBM Plex Sans"/>
              <a:cs typeface="IBM Plex Sans"/>
              <a:sym typeface="IBM Plex Sans"/>
            </a:endParaRPr>
          </a:p>
        </p:txBody>
      </p:sp>
      <p:pic>
        <p:nvPicPr>
          <p:cNvPr descr="arrow-right" id="68" name="Google Shape;68;p7"/>
          <p:cNvPicPr preferRelativeResize="0"/>
          <p:nvPr/>
        </p:nvPicPr>
        <p:blipFill rotWithShape="1">
          <a:blip r:embed="rId3">
            <a:alphaModFix/>
          </a:blip>
          <a:srcRect b="0" l="0" r="0" t="0"/>
          <a:stretch/>
        </p:blipFill>
        <p:spPr>
          <a:xfrm>
            <a:off x="5772595" y="5687566"/>
            <a:ext cx="406400" cy="203200"/>
          </a:xfrm>
          <a:prstGeom prst="rect">
            <a:avLst/>
          </a:prstGeom>
          <a:noFill/>
          <a:ln>
            <a:noFill/>
          </a:ln>
        </p:spPr>
      </p:pic>
      <p:sp>
        <p:nvSpPr>
          <p:cNvPr id="69" name="Google Shape;69;p7"/>
          <p:cNvSpPr/>
          <p:nvPr/>
        </p:nvSpPr>
        <p:spPr>
          <a:xfrm>
            <a:off x="6337745" y="5539485"/>
            <a:ext cx="2506408" cy="499364"/>
          </a:xfrm>
          <a:prstGeom prst="roundRect">
            <a:avLst>
              <a:gd fmla="val 50000" name="adj"/>
            </a:avLst>
          </a:prstGeom>
          <a:solidFill>
            <a:srgbClr val="FFFFFF"/>
          </a:solidFill>
          <a:ln cap="flat" cmpd="sng" w="12700">
            <a:solidFill>
              <a:srgbClr val="0E1A2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E1A24"/>
              </a:buClr>
              <a:buSzPts val="1600"/>
              <a:buFont typeface="IBM Plex Sans"/>
              <a:buNone/>
            </a:pPr>
            <a:r>
              <a:rPr b="1" i="0" lang="en-US" sz="1600" u="none" cap="none" strike="noStrike">
                <a:solidFill>
                  <a:srgbClr val="0E1A24"/>
                </a:solidFill>
                <a:latin typeface="IBM Plex Sans"/>
                <a:ea typeface="IBM Plex Sans"/>
                <a:cs typeface="IBM Plex Sans"/>
                <a:sym typeface="IBM Plex Sans"/>
              </a:rPr>
              <a:t>Get a traceable verdict</a:t>
            </a:r>
            <a:endParaRPr b="0" i="0" sz="16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2EC"/>
        </a:solidFill>
      </p:bgPr>
    </p:bg>
    <p:spTree>
      <p:nvGrpSpPr>
        <p:cNvPr id="74" name="Shape 74"/>
        <p:cNvGrpSpPr/>
        <p:nvPr/>
      </p:nvGrpSpPr>
      <p:grpSpPr>
        <a:xfrm>
          <a:off x="0" y="0"/>
          <a:ext cx="0" cy="0"/>
          <a:chOff x="0" y="0"/>
          <a:chExt cx="0" cy="0"/>
        </a:xfrm>
      </p:grpSpPr>
      <p:sp>
        <p:nvSpPr>
          <p:cNvPr id="75" name="Google Shape;75;p8"/>
          <p:cNvSpPr/>
          <p:nvPr/>
        </p:nvSpPr>
        <p:spPr>
          <a:xfrm>
            <a:off x="812800" y="812800"/>
            <a:ext cx="10883392"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10C"/>
              </a:buClr>
              <a:buSzPts val="1300"/>
              <a:buFont typeface="JetBrains Mono"/>
              <a:buNone/>
            </a:pPr>
            <a:r>
              <a:rPr b="0" i="0" lang="en-US" spc="150" sz="1300" u="none" cap="none" strike="noStrike">
                <a:solidFill>
                  <a:srgbClr val="B8410C"/>
                </a:solidFill>
                <a:latin typeface="JetBrains Mono"/>
                <a:ea typeface="JetBrains Mono"/>
                <a:cs typeface="JetBrains Mono"/>
                <a:sym typeface="JetBrains Mono"/>
              </a:rPr>
              <a:t>HOW IT WORKS</a:t>
            </a:r>
            <a:endParaRPr b="0" i="0" sz="1300" u="none" cap="none" strike="noStrike">
              <a:solidFill>
                <a:schemeClr val="lt1"/>
              </a:solidFill>
              <a:latin typeface="IBM Plex Sans"/>
              <a:ea typeface="IBM Plex Sans"/>
              <a:cs typeface="IBM Plex Sans"/>
              <a:sym typeface="IBM Plex Sans"/>
            </a:endParaRPr>
          </a:p>
        </p:txBody>
      </p:sp>
      <p:sp>
        <p:nvSpPr>
          <p:cNvPr id="76" name="Google Shape;76;p8"/>
          <p:cNvSpPr txBox="1"/>
          <p:nvPr>
            <p:ph type="title"/>
          </p:nvPr>
        </p:nvSpPr>
        <p:spPr>
          <a:xfrm>
            <a:off x="812800" y="1145539"/>
            <a:ext cx="10883392" cy="5283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24"/>
              </a:buClr>
              <a:buSzPts val="3600"/>
              <a:buFont typeface="Space Grotesk"/>
              <a:buNone/>
            </a:pPr>
            <a:r>
              <a:rPr b="1" i="0" lang="en-US" sz="3600">
                <a:solidFill>
                  <a:srgbClr val="0E1A24"/>
                </a:solidFill>
                <a:latin typeface="Space Grotesk"/>
                <a:ea typeface="Space Grotesk"/>
                <a:cs typeface="Space Grotesk"/>
                <a:sym typeface="Space Grotesk"/>
              </a:rPr>
              <a:t>Sense, decide, diagnose, test</a:t>
            </a:r>
            <a:endParaRPr sz="3600"/>
          </a:p>
        </p:txBody>
      </p:sp>
      <p:sp>
        <p:nvSpPr>
          <p:cNvPr id="77" name="Google Shape;77;p8"/>
          <p:cNvSpPr/>
          <p:nvPr/>
        </p:nvSpPr>
        <p:spPr>
          <a:xfrm>
            <a:off x="819150" y="3949446"/>
            <a:ext cx="2476500" cy="2089404"/>
          </a:xfrm>
          <a:prstGeom prst="roundRect">
            <a:avLst>
              <a:gd fmla="val 4559"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a:off x="1078992" y="4209287"/>
            <a:ext cx="2015521"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10C"/>
              </a:buClr>
              <a:buSzPts val="1600"/>
              <a:buFont typeface="JetBrains Mono"/>
              <a:buNone/>
            </a:pPr>
            <a:r>
              <a:rPr b="1" i="0" lang="en-US" sz="1600" u="none" cap="none" strike="noStrike">
                <a:solidFill>
                  <a:srgbClr val="B8410C"/>
                </a:solidFill>
                <a:latin typeface="JetBrains Mono"/>
                <a:ea typeface="JetBrains Mono"/>
                <a:cs typeface="JetBrains Mono"/>
                <a:sym typeface="JetBrains Mono"/>
              </a:rPr>
              <a:t>01</a:t>
            </a:r>
            <a:endParaRPr b="0" i="0" sz="1600" u="none" cap="none" strike="noStrike">
              <a:solidFill>
                <a:schemeClr val="lt1"/>
              </a:solidFill>
              <a:latin typeface="IBM Plex Sans"/>
              <a:ea typeface="IBM Plex Sans"/>
              <a:cs typeface="IBM Plex Sans"/>
              <a:sym typeface="IBM Plex Sans"/>
            </a:endParaRPr>
          </a:p>
        </p:txBody>
      </p:sp>
      <p:sp>
        <p:nvSpPr>
          <p:cNvPr id="79" name="Google Shape;79;p8"/>
          <p:cNvSpPr/>
          <p:nvPr/>
        </p:nvSpPr>
        <p:spPr>
          <a:xfrm>
            <a:off x="1078992" y="4595366"/>
            <a:ext cx="2015521"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2200"/>
              <a:buFont typeface="Space Grotesk"/>
              <a:buNone/>
            </a:pPr>
            <a:r>
              <a:rPr b="1" i="0" lang="en-US" sz="2200" u="none" cap="none" strike="noStrike">
                <a:solidFill>
                  <a:srgbClr val="0E1A24"/>
                </a:solidFill>
                <a:latin typeface="Space Grotesk"/>
                <a:ea typeface="Space Grotesk"/>
                <a:cs typeface="Space Grotesk"/>
                <a:sym typeface="Space Grotesk"/>
              </a:rPr>
              <a:t>Sense</a:t>
            </a:r>
            <a:endParaRPr b="0" i="0" sz="2200" u="none" cap="none" strike="noStrike">
              <a:solidFill>
                <a:schemeClr val="lt1"/>
              </a:solidFill>
              <a:latin typeface="IBM Plex Sans"/>
              <a:ea typeface="IBM Plex Sans"/>
              <a:cs typeface="IBM Plex Sans"/>
              <a:sym typeface="IBM Plex Sans"/>
            </a:endParaRPr>
          </a:p>
        </p:txBody>
      </p:sp>
      <p:sp>
        <p:nvSpPr>
          <p:cNvPr id="80" name="Google Shape;80;p8"/>
          <p:cNvSpPr/>
          <p:nvPr/>
        </p:nvSpPr>
        <p:spPr>
          <a:xfrm>
            <a:off x="1078992" y="5032248"/>
            <a:ext cx="2015521" cy="7721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Four cells report temperature: one real, three simulated.</a:t>
            </a:r>
            <a:endParaRPr b="0" i="0" sz="1400" u="none" cap="none" strike="noStrike">
              <a:solidFill>
                <a:schemeClr val="lt1"/>
              </a:solidFill>
              <a:latin typeface="IBM Plex Sans"/>
              <a:ea typeface="IBM Plex Sans"/>
              <a:cs typeface="IBM Plex Sans"/>
              <a:sym typeface="IBM Plex Sans"/>
            </a:endParaRPr>
          </a:p>
        </p:txBody>
      </p:sp>
      <p:sp>
        <p:nvSpPr>
          <p:cNvPr id="81" name="Google Shape;81;p8"/>
          <p:cNvSpPr/>
          <p:nvPr/>
        </p:nvSpPr>
        <p:spPr>
          <a:xfrm>
            <a:off x="3511550" y="3949446"/>
            <a:ext cx="2476500" cy="2089404"/>
          </a:xfrm>
          <a:prstGeom prst="roundRect">
            <a:avLst>
              <a:gd fmla="val 4559"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3771392" y="4209287"/>
            <a:ext cx="2015521"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10C"/>
              </a:buClr>
              <a:buSzPts val="1600"/>
              <a:buFont typeface="JetBrains Mono"/>
              <a:buNone/>
            </a:pPr>
            <a:r>
              <a:rPr b="1" i="0" lang="en-US" sz="1600" u="none" cap="none" strike="noStrike">
                <a:solidFill>
                  <a:srgbClr val="B8410C"/>
                </a:solidFill>
                <a:latin typeface="JetBrains Mono"/>
                <a:ea typeface="JetBrains Mono"/>
                <a:cs typeface="JetBrains Mono"/>
                <a:sym typeface="JetBrains Mono"/>
              </a:rPr>
              <a:t>02</a:t>
            </a:r>
            <a:endParaRPr b="0" i="0" sz="1600" u="none" cap="none" strike="noStrike">
              <a:solidFill>
                <a:schemeClr val="lt1"/>
              </a:solidFill>
              <a:latin typeface="IBM Plex Sans"/>
              <a:ea typeface="IBM Plex Sans"/>
              <a:cs typeface="IBM Plex Sans"/>
              <a:sym typeface="IBM Plex Sans"/>
            </a:endParaRPr>
          </a:p>
        </p:txBody>
      </p:sp>
      <p:sp>
        <p:nvSpPr>
          <p:cNvPr id="83" name="Google Shape;83;p8"/>
          <p:cNvSpPr/>
          <p:nvPr/>
        </p:nvSpPr>
        <p:spPr>
          <a:xfrm>
            <a:off x="3771392" y="4595366"/>
            <a:ext cx="2015521"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2200"/>
              <a:buFont typeface="Space Grotesk"/>
              <a:buNone/>
            </a:pPr>
            <a:r>
              <a:rPr b="1" i="0" lang="en-US" sz="2200" u="none" cap="none" strike="noStrike">
                <a:solidFill>
                  <a:srgbClr val="0E1A24"/>
                </a:solidFill>
                <a:latin typeface="Space Grotesk"/>
                <a:ea typeface="Space Grotesk"/>
                <a:cs typeface="Space Grotesk"/>
                <a:sym typeface="Space Grotesk"/>
              </a:rPr>
              <a:t>Decide</a:t>
            </a:r>
            <a:endParaRPr b="0" i="0" sz="2200" u="none" cap="none" strike="noStrike">
              <a:solidFill>
                <a:schemeClr val="lt1"/>
              </a:solidFill>
              <a:latin typeface="IBM Plex Sans"/>
              <a:ea typeface="IBM Plex Sans"/>
              <a:cs typeface="IBM Plex Sans"/>
              <a:sym typeface="IBM Plex Sans"/>
            </a:endParaRPr>
          </a:p>
        </p:txBody>
      </p:sp>
      <p:sp>
        <p:nvSpPr>
          <p:cNvPr id="84" name="Google Shape;84;p8"/>
          <p:cNvSpPr/>
          <p:nvPr/>
        </p:nvSpPr>
        <p:spPr>
          <a:xfrm>
            <a:off x="3771392" y="5032248"/>
            <a:ext cx="2015521"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The Guardian judges every cell, every cycle.</a:t>
            </a:r>
            <a:endParaRPr b="0" i="0" sz="1400" u="none" cap="none" strike="noStrike">
              <a:solidFill>
                <a:schemeClr val="lt1"/>
              </a:solidFill>
              <a:latin typeface="IBM Plex Sans"/>
              <a:ea typeface="IBM Plex Sans"/>
              <a:cs typeface="IBM Plex Sans"/>
              <a:sym typeface="IBM Plex Sans"/>
            </a:endParaRPr>
          </a:p>
        </p:txBody>
      </p:sp>
      <p:sp>
        <p:nvSpPr>
          <p:cNvPr id="85" name="Google Shape;85;p8"/>
          <p:cNvSpPr/>
          <p:nvPr/>
        </p:nvSpPr>
        <p:spPr>
          <a:xfrm>
            <a:off x="6203950" y="3949446"/>
            <a:ext cx="2476500" cy="2089404"/>
          </a:xfrm>
          <a:prstGeom prst="roundRect">
            <a:avLst>
              <a:gd fmla="val 4559"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6463792" y="4209287"/>
            <a:ext cx="2015521"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10C"/>
              </a:buClr>
              <a:buSzPts val="1600"/>
              <a:buFont typeface="JetBrains Mono"/>
              <a:buNone/>
            </a:pPr>
            <a:r>
              <a:rPr b="1" i="0" lang="en-US" sz="1600" u="none" cap="none" strike="noStrike">
                <a:solidFill>
                  <a:srgbClr val="B8410C"/>
                </a:solidFill>
                <a:latin typeface="JetBrains Mono"/>
                <a:ea typeface="JetBrains Mono"/>
                <a:cs typeface="JetBrains Mono"/>
                <a:sym typeface="JetBrains Mono"/>
              </a:rPr>
              <a:t>03</a:t>
            </a:r>
            <a:endParaRPr b="0" i="0" sz="1600" u="none" cap="none" strike="noStrike">
              <a:solidFill>
                <a:schemeClr val="lt1"/>
              </a:solidFill>
              <a:latin typeface="IBM Plex Sans"/>
              <a:ea typeface="IBM Plex Sans"/>
              <a:cs typeface="IBM Plex Sans"/>
              <a:sym typeface="IBM Plex Sans"/>
            </a:endParaRPr>
          </a:p>
        </p:txBody>
      </p:sp>
      <p:sp>
        <p:nvSpPr>
          <p:cNvPr id="87" name="Google Shape;87;p8"/>
          <p:cNvSpPr/>
          <p:nvPr/>
        </p:nvSpPr>
        <p:spPr>
          <a:xfrm>
            <a:off x="6463792" y="4595366"/>
            <a:ext cx="2015521"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2200"/>
              <a:buFont typeface="Space Grotesk"/>
              <a:buNone/>
            </a:pPr>
            <a:r>
              <a:rPr b="1" i="0" lang="en-US" sz="2200" u="none" cap="none" strike="noStrike">
                <a:solidFill>
                  <a:srgbClr val="0E1A24"/>
                </a:solidFill>
                <a:latin typeface="Space Grotesk"/>
                <a:ea typeface="Space Grotesk"/>
                <a:cs typeface="Space Grotesk"/>
                <a:sym typeface="Space Grotesk"/>
              </a:rPr>
              <a:t>Diagnose</a:t>
            </a:r>
            <a:endParaRPr b="0" i="0" sz="2200" u="none" cap="none" strike="noStrike">
              <a:solidFill>
                <a:schemeClr val="lt1"/>
              </a:solidFill>
              <a:latin typeface="IBM Plex Sans"/>
              <a:ea typeface="IBM Plex Sans"/>
              <a:cs typeface="IBM Plex Sans"/>
              <a:sym typeface="IBM Plex Sans"/>
            </a:endParaRPr>
          </a:p>
        </p:txBody>
      </p:sp>
      <p:sp>
        <p:nvSpPr>
          <p:cNvPr id="88" name="Google Shape;88;p8"/>
          <p:cNvSpPr/>
          <p:nvPr/>
        </p:nvSpPr>
        <p:spPr>
          <a:xfrm>
            <a:off x="6463792" y="5032248"/>
            <a:ext cx="2015521" cy="7721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Faults become diagnostic records anyone can read.</a:t>
            </a:r>
            <a:endParaRPr b="0" i="0" sz="1400" u="none" cap="none" strike="noStrike">
              <a:solidFill>
                <a:schemeClr val="lt1"/>
              </a:solidFill>
              <a:latin typeface="IBM Plex Sans"/>
              <a:ea typeface="IBM Plex Sans"/>
              <a:cs typeface="IBM Plex Sans"/>
              <a:sym typeface="IBM Plex Sans"/>
            </a:endParaRPr>
          </a:p>
        </p:txBody>
      </p:sp>
      <p:sp>
        <p:nvSpPr>
          <p:cNvPr id="89" name="Google Shape;89;p8"/>
          <p:cNvSpPr/>
          <p:nvPr/>
        </p:nvSpPr>
        <p:spPr>
          <a:xfrm>
            <a:off x="8896350" y="3949446"/>
            <a:ext cx="2476500" cy="2089404"/>
          </a:xfrm>
          <a:prstGeom prst="roundRect">
            <a:avLst>
              <a:gd fmla="val 4559" name="adj"/>
            </a:avLst>
          </a:prstGeom>
          <a:solidFill>
            <a:srgbClr val="0E1A24"/>
          </a:solidFill>
          <a:ln cap="flat" cmpd="sng" w="12700">
            <a:solidFill>
              <a:srgbClr val="0E1A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a:off x="9156192" y="4209287"/>
            <a:ext cx="2015521"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6B2C"/>
              </a:buClr>
              <a:buSzPts val="1600"/>
              <a:buFont typeface="JetBrains Mono"/>
              <a:buNone/>
            </a:pPr>
            <a:r>
              <a:rPr b="1" i="0" lang="en-US" sz="1600" u="none" cap="none" strike="noStrike">
                <a:solidFill>
                  <a:srgbClr val="FF6B2C"/>
                </a:solidFill>
                <a:latin typeface="JetBrains Mono"/>
                <a:ea typeface="JetBrains Mono"/>
                <a:cs typeface="JetBrains Mono"/>
                <a:sym typeface="JetBrains Mono"/>
              </a:rPr>
              <a:t>04</a:t>
            </a:r>
            <a:endParaRPr b="0" i="0" sz="1600" u="none" cap="none" strike="noStrike">
              <a:solidFill>
                <a:schemeClr val="lt1"/>
              </a:solidFill>
              <a:latin typeface="IBM Plex Sans"/>
              <a:ea typeface="IBM Plex Sans"/>
              <a:cs typeface="IBM Plex Sans"/>
              <a:sym typeface="IBM Plex Sans"/>
            </a:endParaRPr>
          </a:p>
        </p:txBody>
      </p:sp>
      <p:sp>
        <p:nvSpPr>
          <p:cNvPr id="91" name="Google Shape;91;p8"/>
          <p:cNvSpPr/>
          <p:nvPr/>
        </p:nvSpPr>
        <p:spPr>
          <a:xfrm>
            <a:off x="9156192" y="4595366"/>
            <a:ext cx="2015521"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200"/>
              <a:buFont typeface="Space Grotesk"/>
              <a:buNone/>
            </a:pPr>
            <a:r>
              <a:rPr b="1" i="0" lang="en-US" sz="2200" u="none" cap="none" strike="noStrike">
                <a:solidFill>
                  <a:srgbClr val="F4F2EC"/>
                </a:solidFill>
                <a:latin typeface="Space Grotesk"/>
                <a:ea typeface="Space Grotesk"/>
                <a:cs typeface="Space Grotesk"/>
                <a:sym typeface="Space Grotesk"/>
              </a:rPr>
              <a:t>Test</a:t>
            </a:r>
            <a:endParaRPr b="0" i="0" sz="2200" u="none" cap="none" strike="noStrike">
              <a:solidFill>
                <a:schemeClr val="lt1"/>
              </a:solidFill>
              <a:latin typeface="IBM Plex Sans"/>
              <a:ea typeface="IBM Plex Sans"/>
              <a:cs typeface="IBM Plex Sans"/>
              <a:sym typeface="IBM Plex Sans"/>
            </a:endParaRPr>
          </a:p>
        </p:txBody>
      </p:sp>
      <p:sp>
        <p:nvSpPr>
          <p:cNvPr id="92" name="Google Shape;92;p8"/>
          <p:cNvSpPr/>
          <p:nvPr/>
        </p:nvSpPr>
        <p:spPr>
          <a:xfrm>
            <a:off x="9156192" y="5032248"/>
            <a:ext cx="2015521" cy="7721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We inject faults on purpose, so the system grades itself.</a:t>
            </a:r>
            <a:endParaRPr b="0" i="0" sz="14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24"/>
        </a:solidFill>
      </p:bgPr>
    </p:bg>
    <p:spTree>
      <p:nvGrpSpPr>
        <p:cNvPr id="97" name="Shape 97"/>
        <p:cNvGrpSpPr/>
        <p:nvPr/>
      </p:nvGrpSpPr>
      <p:grpSpPr>
        <a:xfrm>
          <a:off x="0" y="0"/>
          <a:ext cx="0" cy="0"/>
          <a:chOff x="0" y="0"/>
          <a:chExt cx="0" cy="0"/>
        </a:xfrm>
      </p:grpSpPr>
      <p:sp>
        <p:nvSpPr>
          <p:cNvPr id="98" name="Google Shape;98;p9"/>
          <p:cNvSpPr/>
          <p:nvPr/>
        </p:nvSpPr>
        <p:spPr>
          <a:xfrm>
            <a:off x="812800" y="812800"/>
            <a:ext cx="10883392"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6B2C"/>
              </a:buClr>
              <a:buSzPts val="1300"/>
              <a:buFont typeface="JetBrains Mono"/>
              <a:buNone/>
            </a:pPr>
            <a:r>
              <a:rPr b="0" i="0" lang="en-US" spc="150" sz="1300" u="none" cap="none" strike="noStrike">
                <a:solidFill>
                  <a:srgbClr val="FF6B2C"/>
                </a:solidFill>
                <a:latin typeface="JetBrains Mono"/>
                <a:ea typeface="JetBrains Mono"/>
                <a:cs typeface="JetBrains Mono"/>
                <a:sym typeface="JetBrains Mono"/>
              </a:rPr>
              <a:t>ARCHITECTURE · IMPLEMENTATION</a:t>
            </a:r>
            <a:endParaRPr b="0" i="0" sz="1300" u="none" cap="none" strike="noStrike">
              <a:solidFill>
                <a:schemeClr val="lt1"/>
              </a:solidFill>
              <a:latin typeface="IBM Plex Sans"/>
              <a:ea typeface="IBM Plex Sans"/>
              <a:cs typeface="IBM Plex Sans"/>
              <a:sym typeface="IBM Plex Sans"/>
            </a:endParaRPr>
          </a:p>
        </p:txBody>
      </p:sp>
      <p:sp>
        <p:nvSpPr>
          <p:cNvPr id="99" name="Google Shape;99;p9"/>
          <p:cNvSpPr txBox="1"/>
          <p:nvPr>
            <p:ph type="title"/>
          </p:nvPr>
        </p:nvSpPr>
        <p:spPr>
          <a:xfrm>
            <a:off x="812800" y="1120139"/>
            <a:ext cx="10883392" cy="4165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2EC"/>
              </a:buClr>
              <a:buSzPts val="2800"/>
              <a:buFont typeface="Space Grotesk"/>
              <a:buNone/>
            </a:pPr>
            <a:r>
              <a:rPr b="1" i="0" lang="en-US" sz="2800">
                <a:solidFill>
                  <a:srgbClr val="F4F2EC"/>
                </a:solidFill>
                <a:latin typeface="Space Grotesk"/>
                <a:ea typeface="Space Grotesk"/>
                <a:cs typeface="Space Grotesk"/>
                <a:sym typeface="Space Grotesk"/>
              </a:rPr>
              <a:t>How the pieces connect</a:t>
            </a:r>
            <a:endParaRPr sz="2800"/>
          </a:p>
        </p:txBody>
      </p:sp>
      <p:sp>
        <p:nvSpPr>
          <p:cNvPr id="100" name="Google Shape;100;p9"/>
          <p:cNvSpPr/>
          <p:nvPr/>
        </p:nvSpPr>
        <p:spPr>
          <a:xfrm>
            <a:off x="254000" y="2095500"/>
            <a:ext cx="11684000" cy="2159000"/>
          </a:xfrm>
          <a:prstGeom prst="roundRect">
            <a:avLst>
              <a:gd fmla="val 470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chitecture flowchart: Ankaios and the fault injector orchestrate and test; AZ3166 on ThreadX and the simulator feed the KUKSA Databroker; the VSS uProtocol client feeds the Battery Thermal Guardian, which drives the board and sends faults through fault-lib DFM and OpenSOVD to the Evidence Collector and dashboard" id="101" name="Google Shape;101;p9"/>
          <p:cNvPicPr preferRelativeResize="0"/>
          <p:nvPr/>
        </p:nvPicPr>
        <p:blipFill rotWithShape="1">
          <a:blip r:embed="rId3">
            <a:alphaModFix/>
          </a:blip>
          <a:srcRect b="-11350" l="0" r="0" t="-11350"/>
          <a:stretch/>
        </p:blipFill>
        <p:spPr>
          <a:xfrm>
            <a:off x="330200" y="2159000"/>
            <a:ext cx="11531600" cy="2032000"/>
          </a:xfrm>
          <a:prstGeom prst="rect">
            <a:avLst/>
          </a:prstGeom>
          <a:noFill/>
          <a:ln>
            <a:noFill/>
          </a:ln>
        </p:spPr>
      </p:pic>
      <p:sp>
        <p:nvSpPr>
          <p:cNvPr id="102" name="Google Shape;102;p9"/>
          <p:cNvSpPr/>
          <p:nvPr/>
        </p:nvSpPr>
        <p:spPr>
          <a:xfrm>
            <a:off x="812800" y="4699000"/>
            <a:ext cx="10883392"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Ingestion → processing → diagnostics &amp; telemetry → dashboard, orchestrated by Ankaios and tested by the fault injector.</a:t>
            </a:r>
            <a:endParaRPr b="0" i="0" sz="14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2EC"/>
        </a:solidFill>
      </p:bgPr>
    </p:bg>
    <p:spTree>
      <p:nvGrpSpPr>
        <p:cNvPr id="107" name="Shape 107"/>
        <p:cNvGrpSpPr/>
        <p:nvPr/>
      </p:nvGrpSpPr>
      <p:grpSpPr>
        <a:xfrm>
          <a:off x="0" y="0"/>
          <a:ext cx="0" cy="0"/>
          <a:chOff x="0" y="0"/>
          <a:chExt cx="0" cy="0"/>
        </a:xfrm>
      </p:grpSpPr>
      <p:sp>
        <p:nvSpPr>
          <p:cNvPr id="108" name="Google Shape;108;p10"/>
          <p:cNvSpPr/>
          <p:nvPr/>
        </p:nvSpPr>
        <p:spPr>
          <a:xfrm>
            <a:off x="812800" y="812800"/>
            <a:ext cx="10883392"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10C"/>
              </a:buClr>
              <a:buSzPts val="1300"/>
              <a:buFont typeface="JetBrains Mono"/>
              <a:buNone/>
            </a:pPr>
            <a:r>
              <a:rPr b="0" i="0" lang="en-US" spc="150" sz="1300" u="none" cap="none" strike="noStrike">
                <a:solidFill>
                  <a:srgbClr val="B8410C"/>
                </a:solidFill>
                <a:latin typeface="JetBrains Mono"/>
                <a:ea typeface="JetBrains Mono"/>
                <a:cs typeface="JetBrains Mono"/>
                <a:sym typeface="JetBrains Mono"/>
              </a:rPr>
              <a:t>HYBRID INPUT</a:t>
            </a:r>
            <a:endParaRPr b="0" i="0" sz="1300" u="none" cap="none" strike="noStrike">
              <a:solidFill>
                <a:schemeClr val="lt1"/>
              </a:solidFill>
              <a:latin typeface="IBM Plex Sans"/>
              <a:ea typeface="IBM Plex Sans"/>
              <a:cs typeface="IBM Plex Sans"/>
              <a:sym typeface="IBM Plex Sans"/>
            </a:endParaRPr>
          </a:p>
        </p:txBody>
      </p:sp>
      <p:sp>
        <p:nvSpPr>
          <p:cNvPr id="109" name="Google Shape;109;p10"/>
          <p:cNvSpPr txBox="1"/>
          <p:nvPr>
            <p:ph type="title"/>
          </p:nvPr>
        </p:nvSpPr>
        <p:spPr>
          <a:xfrm>
            <a:off x="812800" y="1145539"/>
            <a:ext cx="10883392" cy="1031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24"/>
              </a:buClr>
              <a:buSzPts val="3600"/>
              <a:buFont typeface="Space Grotesk"/>
              <a:buNone/>
            </a:pPr>
            <a:r>
              <a:rPr b="1" i="0" lang="en-US" sz="3600">
                <a:solidFill>
                  <a:srgbClr val="0E1A24"/>
                </a:solidFill>
                <a:latin typeface="Space Grotesk"/>
                <a:ea typeface="Space Grotesk"/>
                <a:cs typeface="Space Grotesk"/>
                <a:sym typeface="Space Grotesk"/>
              </a:rPr>
              <a:t>Real and simulated cells look the same to the Guardian</a:t>
            </a:r>
            <a:endParaRPr sz="3600"/>
          </a:p>
        </p:txBody>
      </p:sp>
      <p:sp>
        <p:nvSpPr>
          <p:cNvPr id="110" name="Google Shape;110;p10"/>
          <p:cNvSpPr/>
          <p:nvPr/>
        </p:nvSpPr>
        <p:spPr>
          <a:xfrm>
            <a:off x="812800" y="4120896"/>
            <a:ext cx="3370389" cy="1924304"/>
          </a:xfrm>
          <a:prstGeom prst="roundRect">
            <a:avLst>
              <a:gd fmla="val 5280" name="adj"/>
            </a:avLst>
          </a:prstGeom>
          <a:solidFill>
            <a:srgbClr val="0E1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111" name="Google Shape;111;p10"/>
          <p:cNvPicPr preferRelativeResize="0"/>
          <p:nvPr/>
        </p:nvPicPr>
        <p:blipFill rotWithShape="1">
          <a:blip r:embed="rId3">
            <a:alphaModFix/>
          </a:blip>
          <a:srcRect b="0" l="0" r="0" t="0"/>
          <a:stretch/>
        </p:blipFill>
        <p:spPr>
          <a:xfrm>
            <a:off x="1066800" y="4374896"/>
            <a:ext cx="355600" cy="355600"/>
          </a:xfrm>
          <a:prstGeom prst="rect">
            <a:avLst/>
          </a:prstGeom>
          <a:noFill/>
          <a:ln>
            <a:noFill/>
          </a:ln>
        </p:spPr>
      </p:pic>
      <p:sp>
        <p:nvSpPr>
          <p:cNvPr id="112" name="Google Shape;112;p10"/>
          <p:cNvSpPr/>
          <p:nvPr/>
        </p:nvSpPr>
        <p:spPr>
          <a:xfrm>
            <a:off x="1066800" y="4832096"/>
            <a:ext cx="2948261"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200"/>
              <a:buFont typeface="Space Grotesk"/>
              <a:buNone/>
            </a:pPr>
            <a:r>
              <a:rPr b="1" i="0" lang="en-US" sz="2200" u="none" cap="none" strike="noStrike">
                <a:solidFill>
                  <a:srgbClr val="F4F2EC"/>
                </a:solidFill>
                <a:latin typeface="Space Grotesk"/>
                <a:ea typeface="Space Grotesk"/>
                <a:cs typeface="Space Grotesk"/>
                <a:sym typeface="Space Grotesk"/>
              </a:rPr>
              <a:t>Cell 1 · real hardware</a:t>
            </a:r>
            <a:endParaRPr b="0" i="0" sz="2200" u="none" cap="none" strike="noStrike">
              <a:solidFill>
                <a:schemeClr val="lt1"/>
              </a:solidFill>
              <a:latin typeface="IBM Plex Sans"/>
              <a:ea typeface="IBM Plex Sans"/>
              <a:cs typeface="IBM Plex Sans"/>
              <a:sym typeface="IBM Plex Sans"/>
            </a:endParaRPr>
          </a:p>
        </p:txBody>
      </p:sp>
      <p:sp>
        <p:nvSpPr>
          <p:cNvPr id="113" name="Google Shape;113;p10"/>
          <p:cNvSpPr/>
          <p:nvPr/>
        </p:nvSpPr>
        <p:spPr>
          <a:xfrm>
            <a:off x="1066800" y="5268975"/>
            <a:ext cx="2948261"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A board running Eclipse ThreadX keeps feeding live readings.</a:t>
            </a:r>
            <a:endParaRPr b="0" i="0" sz="1400" u="none" cap="none" strike="noStrike">
              <a:solidFill>
                <a:schemeClr val="lt1"/>
              </a:solidFill>
              <a:latin typeface="IBM Plex Sans"/>
              <a:ea typeface="IBM Plex Sans"/>
              <a:cs typeface="IBM Plex Sans"/>
              <a:sym typeface="IBM Plex Sans"/>
            </a:endParaRPr>
          </a:p>
        </p:txBody>
      </p:sp>
      <p:sp>
        <p:nvSpPr>
          <p:cNvPr id="114" name="Google Shape;114;p10"/>
          <p:cNvSpPr/>
          <p:nvPr/>
        </p:nvSpPr>
        <p:spPr>
          <a:xfrm>
            <a:off x="4392739" y="4127246"/>
            <a:ext cx="3382137" cy="1911604"/>
          </a:xfrm>
          <a:prstGeom prst="roundRect">
            <a:avLst>
              <a:gd fmla="val 4983"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115" name="Google Shape;115;p10"/>
          <p:cNvPicPr preferRelativeResize="0"/>
          <p:nvPr/>
        </p:nvPicPr>
        <p:blipFill rotWithShape="1">
          <a:blip r:embed="rId4">
            <a:alphaModFix/>
          </a:blip>
          <a:srcRect b="0" l="0" r="0" t="0"/>
          <a:stretch/>
        </p:blipFill>
        <p:spPr>
          <a:xfrm>
            <a:off x="4652582" y="4387087"/>
            <a:ext cx="355600" cy="355600"/>
          </a:xfrm>
          <a:prstGeom prst="rect">
            <a:avLst/>
          </a:prstGeom>
          <a:noFill/>
          <a:ln>
            <a:noFill/>
          </a:ln>
        </p:spPr>
      </p:pic>
      <p:sp>
        <p:nvSpPr>
          <p:cNvPr id="116" name="Google Shape;116;p10"/>
          <p:cNvSpPr/>
          <p:nvPr/>
        </p:nvSpPr>
        <p:spPr>
          <a:xfrm>
            <a:off x="4652582" y="4844287"/>
            <a:ext cx="2948327"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2200"/>
              <a:buFont typeface="Space Grotesk"/>
              <a:buNone/>
            </a:pPr>
            <a:r>
              <a:rPr b="1" i="0" lang="en-US" sz="2200" u="none" cap="none" strike="noStrike">
                <a:solidFill>
                  <a:srgbClr val="0E1A24"/>
                </a:solidFill>
                <a:latin typeface="Space Grotesk"/>
                <a:ea typeface="Space Grotesk"/>
                <a:cs typeface="Space Grotesk"/>
                <a:sym typeface="Space Grotesk"/>
              </a:rPr>
              <a:t>Cells 2–4 · simulated</a:t>
            </a:r>
            <a:endParaRPr b="0" i="0" sz="2200" u="none" cap="none" strike="noStrike">
              <a:solidFill>
                <a:schemeClr val="lt1"/>
              </a:solidFill>
              <a:latin typeface="IBM Plex Sans"/>
              <a:ea typeface="IBM Plex Sans"/>
              <a:cs typeface="IBM Plex Sans"/>
              <a:sym typeface="IBM Plex Sans"/>
            </a:endParaRPr>
          </a:p>
        </p:txBody>
      </p:sp>
      <p:sp>
        <p:nvSpPr>
          <p:cNvPr id="117" name="Google Shape;117;p10"/>
          <p:cNvSpPr/>
          <p:nvPr/>
        </p:nvSpPr>
        <p:spPr>
          <a:xfrm>
            <a:off x="4652582" y="5281166"/>
            <a:ext cx="2948327"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Same signal format, so we can break them on purpose.</a:t>
            </a:r>
            <a:endParaRPr b="0" i="0" sz="1400" u="none" cap="none" strike="noStrike">
              <a:solidFill>
                <a:schemeClr val="lt1"/>
              </a:solidFill>
              <a:latin typeface="IBM Plex Sans"/>
              <a:ea typeface="IBM Plex Sans"/>
              <a:cs typeface="IBM Plex Sans"/>
              <a:sym typeface="IBM Plex Sans"/>
            </a:endParaRPr>
          </a:p>
        </p:txBody>
      </p:sp>
      <p:sp>
        <p:nvSpPr>
          <p:cNvPr id="118" name="Google Shape;118;p10"/>
          <p:cNvSpPr/>
          <p:nvPr/>
        </p:nvSpPr>
        <p:spPr>
          <a:xfrm>
            <a:off x="7990777" y="4127246"/>
            <a:ext cx="3382073" cy="1911604"/>
          </a:xfrm>
          <a:prstGeom prst="roundRect">
            <a:avLst>
              <a:gd fmla="val 4983"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nk" id="119" name="Google Shape;119;p10"/>
          <p:cNvPicPr preferRelativeResize="0"/>
          <p:nvPr/>
        </p:nvPicPr>
        <p:blipFill rotWithShape="1">
          <a:blip r:embed="rId5">
            <a:alphaModFix/>
          </a:blip>
          <a:srcRect b="0" l="0" r="0" t="0"/>
          <a:stretch/>
        </p:blipFill>
        <p:spPr>
          <a:xfrm>
            <a:off x="8250618" y="4387087"/>
            <a:ext cx="355600" cy="355600"/>
          </a:xfrm>
          <a:prstGeom prst="rect">
            <a:avLst/>
          </a:prstGeom>
          <a:noFill/>
          <a:ln>
            <a:noFill/>
          </a:ln>
        </p:spPr>
      </p:pic>
      <p:sp>
        <p:nvSpPr>
          <p:cNvPr id="120" name="Google Shape;120;p10"/>
          <p:cNvSpPr/>
          <p:nvPr/>
        </p:nvSpPr>
        <p:spPr>
          <a:xfrm>
            <a:off x="8250618" y="4844287"/>
            <a:ext cx="2948261"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2200"/>
              <a:buFont typeface="Space Grotesk"/>
              <a:buNone/>
            </a:pPr>
            <a:r>
              <a:rPr b="1" i="0" lang="en-US" sz="2200" u="none" cap="none" strike="noStrike">
                <a:solidFill>
                  <a:srgbClr val="0E1A24"/>
                </a:solidFill>
                <a:latin typeface="Space Grotesk"/>
                <a:ea typeface="Space Grotesk"/>
                <a:cs typeface="Space Grotesk"/>
                <a:sym typeface="Space Grotesk"/>
              </a:rPr>
              <a:t>One bus</a:t>
            </a:r>
            <a:endParaRPr b="0" i="0" sz="2200" u="none" cap="none" strike="noStrike">
              <a:solidFill>
                <a:schemeClr val="lt1"/>
              </a:solidFill>
              <a:latin typeface="IBM Plex Sans"/>
              <a:ea typeface="IBM Plex Sans"/>
              <a:cs typeface="IBM Plex Sans"/>
              <a:sym typeface="IBM Plex Sans"/>
            </a:endParaRPr>
          </a:p>
        </p:txBody>
      </p:sp>
      <p:sp>
        <p:nvSpPr>
          <p:cNvPr id="121" name="Google Shape;121;p10"/>
          <p:cNvSpPr/>
          <p:nvPr/>
        </p:nvSpPr>
        <p:spPr>
          <a:xfrm>
            <a:off x="8250618" y="5281166"/>
            <a:ext cx="2948261"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Everything travels over Eclipse uProtocol.</a:t>
            </a:r>
            <a:endParaRPr b="0" i="0" sz="14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24"/>
        </a:solidFill>
      </p:bgPr>
    </p:bg>
    <p:spTree>
      <p:nvGrpSpPr>
        <p:cNvPr id="126" name="Shape 126"/>
        <p:cNvGrpSpPr/>
        <p:nvPr/>
      </p:nvGrpSpPr>
      <p:grpSpPr>
        <a:xfrm>
          <a:off x="0" y="0"/>
          <a:ext cx="0" cy="0"/>
          <a:chOff x="0" y="0"/>
          <a:chExt cx="0" cy="0"/>
        </a:xfrm>
      </p:grpSpPr>
      <p:sp>
        <p:nvSpPr>
          <p:cNvPr id="127" name="Google Shape;127;p11"/>
          <p:cNvSpPr/>
          <p:nvPr/>
        </p:nvSpPr>
        <p:spPr>
          <a:xfrm>
            <a:off x="812800" y="812800"/>
            <a:ext cx="10883392"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6B2C"/>
              </a:buClr>
              <a:buSzPts val="1300"/>
              <a:buFont typeface="JetBrains Mono"/>
              <a:buNone/>
            </a:pPr>
            <a:r>
              <a:rPr b="0" i="0" lang="en-US" spc="150" sz="1300" u="none" cap="none" strike="noStrike">
                <a:solidFill>
                  <a:srgbClr val="FF6B2C"/>
                </a:solidFill>
                <a:latin typeface="JetBrains Mono"/>
                <a:ea typeface="JetBrains Mono"/>
                <a:cs typeface="JetBrains Mono"/>
                <a:sym typeface="JetBrains Mono"/>
              </a:rPr>
              <a:t>FAULT CAMPAIGNS</a:t>
            </a:r>
            <a:endParaRPr b="0" i="0" sz="1300" u="none" cap="none" strike="noStrike">
              <a:solidFill>
                <a:schemeClr val="lt1"/>
              </a:solidFill>
              <a:latin typeface="IBM Plex Sans"/>
              <a:ea typeface="IBM Plex Sans"/>
              <a:cs typeface="IBM Plex Sans"/>
              <a:sym typeface="IBM Plex Sans"/>
            </a:endParaRPr>
          </a:p>
        </p:txBody>
      </p:sp>
      <p:sp>
        <p:nvSpPr>
          <p:cNvPr id="128" name="Google Shape;128;p11"/>
          <p:cNvSpPr txBox="1"/>
          <p:nvPr>
            <p:ph type="title"/>
          </p:nvPr>
        </p:nvSpPr>
        <p:spPr>
          <a:xfrm>
            <a:off x="812800" y="1145539"/>
            <a:ext cx="10883392" cy="5283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2EC"/>
              </a:buClr>
              <a:buSzPts val="3600"/>
              <a:buFont typeface="Space Grotesk"/>
              <a:buNone/>
            </a:pPr>
            <a:r>
              <a:rPr b="1" i="0" lang="en-US" sz="3600">
                <a:solidFill>
                  <a:srgbClr val="F4F2EC"/>
                </a:solidFill>
                <a:latin typeface="Space Grotesk"/>
                <a:ea typeface="Space Grotesk"/>
                <a:cs typeface="Space Grotesk"/>
                <a:sym typeface="Space Grotesk"/>
              </a:rPr>
              <a:t>A new hazard is just a new YAML file</a:t>
            </a:r>
            <a:endParaRPr sz="3600"/>
          </a:p>
        </p:txBody>
      </p:sp>
      <p:sp>
        <p:nvSpPr>
          <p:cNvPr id="129" name="Google Shape;129;p11"/>
          <p:cNvSpPr/>
          <p:nvPr/>
        </p:nvSpPr>
        <p:spPr>
          <a:xfrm>
            <a:off x="812800" y="2136025"/>
            <a:ext cx="5384400" cy="3180300"/>
          </a:xfrm>
          <a:prstGeom prst="roundRect">
            <a:avLst>
              <a:gd fmla="val 3952" name="adj"/>
            </a:avLst>
          </a:prstGeom>
          <a:solidFill>
            <a:srgbClr val="16263A"/>
          </a:solidFill>
          <a:ln cap="flat" cmpd="sng" w="12700">
            <a:solidFill>
              <a:srgbClr val="2C40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a:off x="1078992" y="2269861"/>
            <a:ext cx="5010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C8B98"/>
              </a:buClr>
              <a:buSzPts val="1200"/>
              <a:buFont typeface="JetBrains Mono"/>
              <a:buNone/>
            </a:pPr>
            <a:r>
              <a:rPr lang="en-US" sz="1200">
                <a:solidFill>
                  <a:srgbClr val="7C8B98"/>
                </a:solidFill>
                <a:latin typeface="JetBrains Mono"/>
                <a:ea typeface="JetBrains Mono"/>
                <a:cs typeface="JetBrains Mono"/>
                <a:sym typeface="JetBrains Mono"/>
              </a:rPr>
              <a:t>transport-delay.yaml</a:t>
            </a:r>
            <a:endParaRPr b="0" i="0" sz="1200" u="none" cap="none" strike="noStrike">
              <a:solidFill>
                <a:schemeClr val="lt1"/>
              </a:solidFill>
              <a:latin typeface="IBM Plex Sans"/>
              <a:ea typeface="IBM Plex Sans"/>
              <a:cs typeface="IBM Plex Sans"/>
              <a:sym typeface="IBM Plex Sans"/>
            </a:endParaRPr>
          </a:p>
        </p:txBody>
      </p:sp>
      <p:sp>
        <p:nvSpPr>
          <p:cNvPr id="131" name="Google Shape;131;p11"/>
          <p:cNvSpPr/>
          <p:nvPr/>
        </p:nvSpPr>
        <p:spPr>
          <a:xfrm>
            <a:off x="1079000" y="2699574"/>
            <a:ext cx="5010600" cy="25611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hazard: "H7: delayed delivery makes the guardian act on old data"</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safety_goal: "SG5: late data must not be treated as current"</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expected_state: SENSOR_FAULT</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expected_faults: [battery_guardian.signal_stale]</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max_detect_ms: 5000</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baseline: {min_c: 25, max_c: 32, period_s: 120}</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faults:</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rPr lang="en-US" sz="1100">
                <a:solidFill>
                  <a:schemeClr val="lt1"/>
                </a:solidFill>
                <a:latin typeface="IBM Plex Sans"/>
                <a:ea typeface="IBM Plex Sans"/>
                <a:cs typeface="IBM Plex Sans"/>
                <a:sym typeface="IBM Plex Sans"/>
              </a:rPr>
              <a:t>  - {at_s: 10, duration_s: 10, target: publisher, type: delay, params: {ms: 2500, topic: signal}}</a:t>
            </a:r>
            <a:endParaRPr sz="1100">
              <a:solidFill>
                <a:schemeClr val="lt1"/>
              </a:solidFill>
              <a:latin typeface="IBM Plex Sans"/>
              <a:ea typeface="IBM Plex Sans"/>
              <a:cs typeface="IBM Plex Sans"/>
              <a:sym typeface="IBM Plex Sans"/>
            </a:endParaRPr>
          </a:p>
          <a:p>
            <a:pPr indent="0" lvl="0" marL="0" marR="0" rtl="0" algn="l">
              <a:lnSpc>
                <a:spcPct val="160000"/>
              </a:lnSpc>
              <a:spcBef>
                <a:spcPts val="0"/>
              </a:spcBef>
              <a:spcAft>
                <a:spcPts val="0"/>
              </a:spcAft>
              <a:buClr>
                <a:srgbClr val="FFB347"/>
              </a:buClr>
              <a:buSzPts val="1500"/>
              <a:buFont typeface="JetBrains Mono"/>
              <a:buNone/>
            </a:pPr>
            <a:r>
              <a:t/>
            </a:r>
            <a:endParaRPr sz="1100">
              <a:solidFill>
                <a:schemeClr val="lt1"/>
              </a:solidFill>
              <a:latin typeface="IBM Plex Sans"/>
              <a:ea typeface="IBM Plex Sans"/>
              <a:cs typeface="IBM Plex Sans"/>
              <a:sym typeface="IBM Plex Sans"/>
            </a:endParaRPr>
          </a:p>
        </p:txBody>
      </p:sp>
      <p:cxnSp>
        <p:nvCxnSpPr>
          <p:cNvPr id="132" name="Google Shape;132;p11"/>
          <p:cNvCxnSpPr/>
          <p:nvPr/>
        </p:nvCxnSpPr>
        <p:spPr>
          <a:xfrm>
            <a:off x="6533642" y="2504831"/>
            <a:ext cx="0" cy="706200"/>
          </a:xfrm>
          <a:prstGeom prst="straightConnector1">
            <a:avLst/>
          </a:prstGeom>
          <a:noFill/>
          <a:ln cap="flat" cmpd="sng" w="38100">
            <a:solidFill>
              <a:srgbClr val="FF6B2C"/>
            </a:solidFill>
            <a:prstDash val="solid"/>
            <a:round/>
            <a:headEnd len="sm" w="sm" type="none"/>
            <a:tailEnd len="sm" w="sm" type="none"/>
          </a:ln>
        </p:spPr>
      </p:cxnSp>
      <p:sp>
        <p:nvSpPr>
          <p:cNvPr id="133" name="Google Shape;133;p11"/>
          <p:cNvSpPr/>
          <p:nvPr/>
        </p:nvSpPr>
        <p:spPr>
          <a:xfrm>
            <a:off x="6754368" y="2555631"/>
            <a:ext cx="47637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000"/>
              <a:buFont typeface="Space Grotesk"/>
              <a:buNone/>
            </a:pPr>
            <a:r>
              <a:rPr b="1" i="0" lang="en-US" sz="2000" u="none" cap="none" strike="noStrike">
                <a:solidFill>
                  <a:srgbClr val="F4F2EC"/>
                </a:solidFill>
                <a:latin typeface="Space Grotesk"/>
                <a:ea typeface="Space Grotesk"/>
                <a:cs typeface="Space Grotesk"/>
                <a:sym typeface="Space Grotesk"/>
              </a:rPr>
              <a:t>Stuck sensors</a:t>
            </a:r>
            <a:endParaRPr b="0" i="0" sz="2000" u="none" cap="none" strike="noStrike">
              <a:solidFill>
                <a:schemeClr val="lt1"/>
              </a:solidFill>
              <a:latin typeface="IBM Plex Sans"/>
              <a:ea typeface="IBM Plex Sans"/>
              <a:cs typeface="IBM Plex Sans"/>
              <a:sym typeface="IBM Plex Sans"/>
            </a:endParaRPr>
          </a:p>
        </p:txBody>
      </p:sp>
      <p:sp>
        <p:nvSpPr>
          <p:cNvPr id="134" name="Google Shape;134;p11"/>
          <p:cNvSpPr/>
          <p:nvPr/>
        </p:nvSpPr>
        <p:spPr>
          <a:xfrm>
            <a:off x="6754368" y="2911231"/>
            <a:ext cx="4763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A reading that stops changing</a:t>
            </a:r>
            <a:endParaRPr b="0" i="0" sz="1400" u="none" cap="none" strike="noStrike">
              <a:solidFill>
                <a:schemeClr val="lt1"/>
              </a:solidFill>
              <a:latin typeface="IBM Plex Sans"/>
              <a:ea typeface="IBM Plex Sans"/>
              <a:cs typeface="IBM Plex Sans"/>
              <a:sym typeface="IBM Plex Sans"/>
            </a:endParaRPr>
          </a:p>
        </p:txBody>
      </p:sp>
      <p:cxnSp>
        <p:nvCxnSpPr>
          <p:cNvPr id="135" name="Google Shape;135;p11"/>
          <p:cNvCxnSpPr/>
          <p:nvPr/>
        </p:nvCxnSpPr>
        <p:spPr>
          <a:xfrm>
            <a:off x="6533642" y="3363349"/>
            <a:ext cx="0" cy="706200"/>
          </a:xfrm>
          <a:prstGeom prst="straightConnector1">
            <a:avLst/>
          </a:prstGeom>
          <a:noFill/>
          <a:ln cap="flat" cmpd="sng" w="38100">
            <a:solidFill>
              <a:srgbClr val="FFB347"/>
            </a:solidFill>
            <a:prstDash val="solid"/>
            <a:round/>
            <a:headEnd len="sm" w="sm" type="none"/>
            <a:tailEnd len="sm" w="sm" type="none"/>
          </a:ln>
        </p:spPr>
      </p:cxnSp>
      <p:sp>
        <p:nvSpPr>
          <p:cNvPr id="136" name="Google Shape;136;p11"/>
          <p:cNvSpPr/>
          <p:nvPr/>
        </p:nvSpPr>
        <p:spPr>
          <a:xfrm>
            <a:off x="6754368" y="3414149"/>
            <a:ext cx="47637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000"/>
              <a:buFont typeface="Space Grotesk"/>
              <a:buNone/>
            </a:pPr>
            <a:r>
              <a:rPr b="1" i="0" lang="en-US" sz="2000" u="none" cap="none" strike="noStrike">
                <a:solidFill>
                  <a:srgbClr val="F4F2EC"/>
                </a:solidFill>
                <a:latin typeface="Space Grotesk"/>
                <a:ea typeface="Space Grotesk"/>
                <a:cs typeface="Space Grotesk"/>
                <a:sym typeface="Space Grotesk"/>
              </a:rPr>
              <a:t>Dropped messages</a:t>
            </a:r>
            <a:endParaRPr b="0" i="0" sz="2000" u="none" cap="none" strike="noStrike">
              <a:solidFill>
                <a:schemeClr val="lt1"/>
              </a:solidFill>
              <a:latin typeface="IBM Plex Sans"/>
              <a:ea typeface="IBM Plex Sans"/>
              <a:cs typeface="IBM Plex Sans"/>
              <a:sym typeface="IBM Plex Sans"/>
            </a:endParaRPr>
          </a:p>
        </p:txBody>
      </p:sp>
      <p:sp>
        <p:nvSpPr>
          <p:cNvPr id="137" name="Google Shape;137;p11"/>
          <p:cNvSpPr/>
          <p:nvPr/>
        </p:nvSpPr>
        <p:spPr>
          <a:xfrm>
            <a:off x="6754368" y="3769749"/>
            <a:ext cx="4763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A link that goes quiet</a:t>
            </a:r>
            <a:endParaRPr b="0" i="0" sz="1400" u="none" cap="none" strike="noStrike">
              <a:solidFill>
                <a:schemeClr val="lt1"/>
              </a:solidFill>
              <a:latin typeface="IBM Plex Sans"/>
              <a:ea typeface="IBM Plex Sans"/>
              <a:cs typeface="IBM Plex Sans"/>
              <a:sym typeface="IBM Plex Sans"/>
            </a:endParaRPr>
          </a:p>
        </p:txBody>
      </p:sp>
      <p:cxnSp>
        <p:nvCxnSpPr>
          <p:cNvPr id="138" name="Google Shape;138;p11"/>
          <p:cNvCxnSpPr/>
          <p:nvPr/>
        </p:nvCxnSpPr>
        <p:spPr>
          <a:xfrm>
            <a:off x="6533642" y="4221867"/>
            <a:ext cx="0" cy="706200"/>
          </a:xfrm>
          <a:prstGeom prst="straightConnector1">
            <a:avLst/>
          </a:prstGeom>
          <a:noFill/>
          <a:ln cap="flat" cmpd="sng" w="38100">
            <a:solidFill>
              <a:srgbClr val="7C8B98"/>
            </a:solidFill>
            <a:prstDash val="solid"/>
            <a:round/>
            <a:headEnd len="sm" w="sm" type="none"/>
            <a:tailEnd len="sm" w="sm" type="none"/>
          </a:ln>
        </p:spPr>
      </p:cxnSp>
      <p:sp>
        <p:nvSpPr>
          <p:cNvPr id="139" name="Google Shape;139;p11"/>
          <p:cNvSpPr/>
          <p:nvPr/>
        </p:nvSpPr>
        <p:spPr>
          <a:xfrm>
            <a:off x="6754368" y="4272667"/>
            <a:ext cx="47637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2000"/>
              <a:buFont typeface="Space Grotesk"/>
              <a:buNone/>
            </a:pPr>
            <a:r>
              <a:rPr b="1" i="0" lang="en-US" sz="2000" u="none" cap="none" strike="noStrike">
                <a:solidFill>
                  <a:srgbClr val="F4F2EC"/>
                </a:solidFill>
                <a:latin typeface="Space Grotesk"/>
                <a:ea typeface="Space Grotesk"/>
                <a:cs typeface="Space Grotesk"/>
                <a:sym typeface="Space Grotesk"/>
              </a:rPr>
              <a:t>A dead diagnostic write</a:t>
            </a:r>
            <a:endParaRPr b="0" i="0" sz="2000" u="none" cap="none" strike="noStrike">
              <a:solidFill>
                <a:schemeClr val="lt1"/>
              </a:solidFill>
              <a:latin typeface="IBM Plex Sans"/>
              <a:ea typeface="IBM Plex Sans"/>
              <a:cs typeface="IBM Plex Sans"/>
              <a:sym typeface="IBM Plex Sans"/>
            </a:endParaRPr>
          </a:p>
        </p:txBody>
      </p:sp>
      <p:sp>
        <p:nvSpPr>
          <p:cNvPr id="140" name="Google Shape;140;p11"/>
          <p:cNvSpPr/>
          <p:nvPr/>
        </p:nvSpPr>
        <p:spPr>
          <a:xfrm>
            <a:off x="6754368" y="4628267"/>
            <a:ext cx="4763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400"/>
              <a:buFont typeface="IBM Plex Sans"/>
              <a:buNone/>
            </a:pPr>
            <a:r>
              <a:rPr b="0" i="0" lang="en-US" sz="1400" u="none" cap="none" strike="noStrike">
                <a:solidFill>
                  <a:srgbClr val="B8C4CE"/>
                </a:solidFill>
                <a:latin typeface="IBM Plex Sans"/>
                <a:ea typeface="IBM Plex Sans"/>
                <a:cs typeface="IBM Plex Sans"/>
                <a:sym typeface="IBM Plex Sans"/>
              </a:rPr>
              <a:t>A fault that never gets recorded</a:t>
            </a:r>
            <a:endParaRPr b="0" i="0" sz="1400" u="none" cap="none" strike="noStrike">
              <a:solidFill>
                <a:schemeClr val="lt1"/>
              </a:solidFill>
              <a:latin typeface="IBM Plex Sans"/>
              <a:ea typeface="IBM Plex Sans"/>
              <a:cs typeface="IBM Plex Sans"/>
              <a:sym typeface="IBM Plex Sans"/>
            </a:endParaRPr>
          </a:p>
        </p:txBody>
      </p:sp>
      <p:sp>
        <p:nvSpPr>
          <p:cNvPr id="141" name="Google Shape;141;p11"/>
          <p:cNvSpPr/>
          <p:nvPr/>
        </p:nvSpPr>
        <p:spPr>
          <a:xfrm>
            <a:off x="812800" y="5778500"/>
            <a:ext cx="10883392"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2EC"/>
              </a:buClr>
              <a:buSzPts val="1500"/>
              <a:buFont typeface="IBM Plex Sans"/>
              <a:buNone/>
            </a:pPr>
            <a:r>
              <a:rPr b="0" i="0" lang="en-US" sz="1500" u="none" cap="none" strike="noStrike">
                <a:solidFill>
                  <a:srgbClr val="F4F2EC"/>
                </a:solidFill>
                <a:latin typeface="IBM Plex Sans"/>
                <a:ea typeface="IBM Plex Sans"/>
                <a:cs typeface="IBM Plex Sans"/>
                <a:sym typeface="IBM Plex Sans"/>
              </a:rPr>
              <a:t>Start and end markers on every run, so the system </a:t>
            </a:r>
            <a:r>
              <a:rPr b="1" i="0" lang="en-US" sz="1500" u="none" cap="none" strike="noStrike">
                <a:solidFill>
                  <a:srgbClr val="FF6B2C"/>
                </a:solidFill>
                <a:latin typeface="IBM Plex Sans"/>
                <a:ea typeface="IBM Plex Sans"/>
                <a:cs typeface="IBM Plex Sans"/>
                <a:sym typeface="IBM Plex Sans"/>
              </a:rPr>
              <a:t>grades itself</a:t>
            </a:r>
            <a:r>
              <a:rPr b="0" i="0" lang="en-US" sz="1500" u="none" cap="none" strike="noStrike">
                <a:solidFill>
                  <a:srgbClr val="F4F2EC"/>
                </a:solidFill>
                <a:latin typeface="IBM Plex Sans"/>
                <a:ea typeface="IBM Plex Sans"/>
                <a:cs typeface="IBM Plex Sans"/>
                <a:sym typeface="IBM Plex Sans"/>
              </a:rPr>
              <a:t>. One Ankaios command runs it all.</a:t>
            </a:r>
            <a:endParaRPr b="0" i="0" sz="15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B2C"/>
        </a:solidFill>
      </p:bgPr>
    </p:bg>
    <p:spTree>
      <p:nvGrpSpPr>
        <p:cNvPr id="146" name="Shape 146"/>
        <p:cNvGrpSpPr/>
        <p:nvPr/>
      </p:nvGrpSpPr>
      <p:grpSpPr>
        <a:xfrm>
          <a:off x="0" y="0"/>
          <a:ext cx="0" cy="0"/>
          <a:chOff x="0" y="0"/>
          <a:chExt cx="0" cy="0"/>
        </a:xfrm>
      </p:grpSpPr>
      <p:sp>
        <p:nvSpPr>
          <p:cNvPr id="11" name="Title"/>
          <p:cNvSpPr txBox="1"/>
          <p:nvPr>
            <p:ph type="title"/>
          </p:nvPr>
        </p:nvSpPr>
        <p:spPr>
          <a:xfrm>
            <a:off x="812902" y="1417320"/>
            <a:ext cx="6309360" cy="4023360"/>
          </a:xfrm>
          <a:prstGeom prst="rect">
            <a:avLst/>
          </a:prstGeom>
          <a:noFill/>
          <a:ln>
            <a:noFill/>
          </a:ln>
        </p:spPr>
        <p:txBody>
          <a:bodyPr wrap="square" lIns="0" tIns="0" rIns="0" bIns="0" anchor="ctr" anchorCtr="0">
            <a:noAutofit/>
          </a:bodyPr>
          <a:lstStyle/>
          <a:p>
            <a:pPr marL="0" indent="0" algn="l">
              <a:lnSpc>
                <a:spcPct val="92000"/>
              </a:lnSpc>
              <a:spcBef>
                <a:spcPts val="0"/>
              </a:spcBef>
              <a:spcAft>
                <a:spcPts val="0"/>
              </a:spcAft>
              <a:buNone/>
            </a:pPr>
            <a:r>
              <a:rPr lang="en-US" sz="8800" b="1" i="0" spc="-300" dirty="0">
                <a:solidFill>
                  <a:srgbClr val="0E1A24"/>
                </a:solidFill>
                <a:latin typeface="Space Grotesk"/>
                <a:ea typeface="Space Grotesk"/>
                <a:cs typeface="Space Grotesk"/>
                <a:sym typeface="Space Grotesk"/>
              </a:rPr>
              <a:t xml:space="preserve">Let’s</a:t>
            </a:r>
          </a:p>
          <a:p>
            <a:pPr marL="0" indent="0" algn="l">
              <a:lnSpc>
                <a:spcPct val="92000"/>
              </a:lnSpc>
              <a:spcBef>
                <a:spcPts val="0"/>
              </a:spcBef>
              <a:spcAft>
                <a:spcPts val="0"/>
              </a:spcAft>
              <a:buNone/>
            </a:pPr>
            <a:r>
              <a:rPr lang="en-US" sz="8800" b="1" i="0" spc="-300" dirty="0">
                <a:solidFill>
                  <a:srgbClr val="F4F2EC"/>
                </a:solidFill>
                <a:latin typeface="Space Grotesk"/>
                <a:ea typeface="Space Grotesk"/>
                <a:cs typeface="Space Grotesk"/>
                <a:sym typeface="Space Grotesk"/>
              </a:rPr>
              <a:t xml:space="preserve">break it</a:t>
            </a:r>
          </a:p>
          <a:p>
            <a:pPr marL="0" indent="0" algn="l">
              <a:lnSpc>
                <a:spcPct val="92000"/>
              </a:lnSpc>
              <a:spcBef>
                <a:spcPts val="0"/>
              </a:spcBef>
              <a:spcAft>
                <a:spcPts val="0"/>
              </a:spcAft>
              <a:buNone/>
            </a:pPr>
            <a:r>
              <a:rPr lang="en-US" sz="8800" b="1" i="0" spc="-300" dirty="0">
                <a:solidFill>
                  <a:srgbClr val="0E1A24"/>
                </a:solidFill>
                <a:latin typeface="Space Grotesk"/>
                <a:ea typeface="Space Grotesk"/>
                <a:cs typeface="Space Grotesk"/>
                <a:sym typeface="Space Grotesk"/>
              </a:rPr>
              <a:t xml:space="preserve">on purpose</a:t>
            </a:r>
          </a:p>
        </p:txBody>
      </p:sp>
      <p:sp>
        <p:nvSpPr>
          <p:cNvPr id="12" name="Battery terminal"/>
          <p:cNvSpPr/>
          <p:nvPr/>
        </p:nvSpPr>
        <p:spPr>
          <a:xfrm>
            <a:off x="8481060" y="1124712"/>
            <a:ext cx="1188720" cy="457200"/>
          </a:xfrm>
          <a:prstGeom prst="roundRect">
            <a:avLst>
              <a:gd name="adj" fmla="val 25000"/>
            </a:avLst>
          </a:prstGeom>
          <a:solidFill>
            <a:srgbClr val="0E1A24"/>
          </a:solidFill>
          <a:ln>
            <a:noFill/>
          </a:ln>
        </p:spPr>
        <p:txBody>
          <a:bodyPr wrap="square" lIns="0" tIns="0" rIns="0" bIns="0" anchor="t" anchorCtr="0">
            <a:noAutofit/>
          </a:bodyPr>
          <a:lstStyle/>
          <a:p>
            <a:endParaRPr lang="en-US"/>
          </a:p>
        </p:txBody>
      </p:sp>
      <p:sp>
        <p:nvSpPr>
          <p:cNvPr id="13" name="Battery body"/>
          <p:cNvSpPr/>
          <p:nvPr/>
        </p:nvSpPr>
        <p:spPr>
          <a:xfrm>
            <a:off x="7360920" y="1417320"/>
            <a:ext cx="3429000" cy="4434840"/>
          </a:xfrm>
          <a:prstGeom prst="roundRect">
            <a:avLst>
              <a:gd name="adj" fmla="val 7000"/>
            </a:avLst>
          </a:prstGeom>
          <a:solidFill>
            <a:srgbClr val="0E1A24"/>
          </a:solidFill>
          <a:ln>
            <a:noFill/>
          </a:ln>
        </p:spPr>
        <p:txBody>
          <a:bodyPr wrap="square" lIns="0" tIns="0" rIns="0" bIns="0" anchor="t" anchorCtr="0">
            <a:noAutofit/>
          </a:bodyPr>
          <a:lstStyle/>
          <a:p>
            <a:endParaRPr lang="en-US"/>
          </a:p>
        </p:txBody>
      </p:sp>
      <p:sp>
        <p:nvSpPr>
          <p:cNvPr id="14" name="Cell 1"/>
          <p:cNvSpPr/>
          <p:nvPr/>
        </p:nvSpPr>
        <p:spPr>
          <a:xfrm>
            <a:off x="7580376" y="1636776"/>
            <a:ext cx="2990088" cy="875538"/>
          </a:xfrm>
          <a:prstGeom prst="roundRect">
            <a:avLst>
              <a:gd name="adj" fmla="val 12000"/>
            </a:avLst>
          </a:prstGeom>
          <a:solidFill>
            <a:srgbClr val="16263A"/>
          </a:solidFill>
          <a:ln>
            <a:noFill/>
          </a:ln>
        </p:spPr>
        <p:txBody>
          <a:bodyPr wrap="square" lIns="0" tIns="0" rIns="0" bIns="0" anchor="t" anchorCtr="0">
            <a:noAutofit/>
          </a:bodyPr>
          <a:lstStyle/>
          <a:p>
            <a:endParaRPr lang="en-US"/>
          </a:p>
        </p:txBody>
      </p:sp>
      <p:sp>
        <p:nvSpPr>
          <p:cNvPr id="15" name="Cell 1 label"/>
          <p:cNvSpPr txBox="1"/>
          <p:nvPr/>
        </p:nvSpPr>
        <p:spPr>
          <a:xfrm>
            <a:off x="7808976" y="1636776"/>
            <a:ext cx="1280160" cy="875538"/>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300" b="0" i="0" spc="150" dirty="0">
                <a:solidFill>
                  <a:srgbClr val="B8C4CE"/>
                </a:solidFill>
                <a:latin typeface="JetBrains Mono"/>
                <a:ea typeface="JetBrains Mono"/>
                <a:cs typeface="JetBrains Mono"/>
                <a:sym typeface="JetBrains Mono"/>
              </a:rPr>
              <a:t xml:space="preserve">CELL 1</a:t>
            </a:r>
          </a:p>
        </p:txBody>
      </p:sp>
      <p:sp>
        <p:nvSpPr>
          <p:cNvPr id="16" name="Cell 1 temp"/>
          <p:cNvSpPr txBox="1"/>
          <p:nvPr/>
        </p:nvSpPr>
        <p:spPr>
          <a:xfrm>
            <a:off x="8695944" y="1636776"/>
            <a:ext cx="1645920" cy="875538"/>
          </a:xfrm>
          <a:prstGeom prst="rect">
            <a:avLst/>
          </a:prstGeom>
          <a:noFill/>
          <a:ln>
            <a:noFill/>
          </a:ln>
        </p:spPr>
        <p:txBody>
          <a:bodyPr wrap="square" lIns="0" tIns="0" rIns="0" bIns="0" anchor="ctr" anchorCtr="0">
            <a:noAutofit/>
          </a:bodyPr>
          <a:lstStyle/>
          <a:p>
            <a:pPr marL="0" indent="0" algn="r">
              <a:lnSpc>
                <a:spcPct val="100000"/>
              </a:lnSpc>
              <a:spcBef>
                <a:spcPts val="0"/>
              </a:spcBef>
              <a:spcAft>
                <a:spcPts val="0"/>
              </a:spcAft>
              <a:buNone/>
            </a:pPr>
            <a:r>
              <a:rPr lang="en-US" sz="2600" b="1" i="0" spc="0" dirty="0">
                <a:solidFill>
                  <a:srgbClr val="F4F2EC"/>
                </a:solidFill>
                <a:latin typeface="Space Grotesk"/>
                <a:ea typeface="Space Grotesk"/>
                <a:cs typeface="Space Grotesk"/>
                <a:sym typeface="Space Grotesk"/>
              </a:rPr>
              <a:t xml:space="preserve">28 °C</a:t>
            </a:r>
          </a:p>
        </p:txBody>
      </p:sp>
      <p:sp>
        <p:nvSpPr>
          <p:cNvPr id="17" name="Cell 2"/>
          <p:cNvSpPr/>
          <p:nvPr/>
        </p:nvSpPr>
        <p:spPr>
          <a:xfrm>
            <a:off x="7580376" y="2676906"/>
            <a:ext cx="2990088" cy="875538"/>
          </a:xfrm>
          <a:prstGeom prst="roundRect">
            <a:avLst>
              <a:gd name="adj" fmla="val 12000"/>
            </a:avLst>
          </a:prstGeom>
          <a:solidFill>
            <a:srgbClr val="16263A"/>
          </a:solidFill>
          <a:ln>
            <a:noFill/>
          </a:ln>
        </p:spPr>
        <p:txBody>
          <a:bodyPr wrap="square" lIns="0" tIns="0" rIns="0" bIns="0" anchor="t" anchorCtr="0">
            <a:noAutofit/>
          </a:bodyPr>
          <a:lstStyle/>
          <a:p>
            <a:endParaRPr lang="en-US"/>
          </a:p>
        </p:txBody>
      </p:sp>
      <p:sp>
        <p:nvSpPr>
          <p:cNvPr id="18" name="Cell 2 label"/>
          <p:cNvSpPr txBox="1"/>
          <p:nvPr/>
        </p:nvSpPr>
        <p:spPr>
          <a:xfrm>
            <a:off x="7808976" y="2676906"/>
            <a:ext cx="1280160" cy="875538"/>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300" b="0" i="0" spc="150" dirty="0">
                <a:solidFill>
                  <a:srgbClr val="B8C4CE"/>
                </a:solidFill>
                <a:latin typeface="JetBrains Mono"/>
                <a:ea typeface="JetBrains Mono"/>
                <a:cs typeface="JetBrains Mono"/>
                <a:sym typeface="JetBrains Mono"/>
              </a:rPr>
              <a:t xml:space="preserve">CELL 2</a:t>
            </a:r>
          </a:p>
        </p:txBody>
      </p:sp>
      <p:sp>
        <p:nvSpPr>
          <p:cNvPr id="19" name="Cell 2 temp"/>
          <p:cNvSpPr txBox="1"/>
          <p:nvPr/>
        </p:nvSpPr>
        <p:spPr>
          <a:xfrm>
            <a:off x="8695944" y="2676906"/>
            <a:ext cx="1645920" cy="875538"/>
          </a:xfrm>
          <a:prstGeom prst="rect">
            <a:avLst/>
          </a:prstGeom>
          <a:noFill/>
          <a:ln>
            <a:noFill/>
          </a:ln>
        </p:spPr>
        <p:txBody>
          <a:bodyPr wrap="square" lIns="0" tIns="0" rIns="0" bIns="0" anchor="ctr" anchorCtr="0">
            <a:noAutofit/>
          </a:bodyPr>
          <a:lstStyle/>
          <a:p>
            <a:pPr marL="0" indent="0" algn="r">
              <a:lnSpc>
                <a:spcPct val="100000"/>
              </a:lnSpc>
              <a:spcBef>
                <a:spcPts val="0"/>
              </a:spcBef>
              <a:spcAft>
                <a:spcPts val="0"/>
              </a:spcAft>
              <a:buNone/>
            </a:pPr>
            <a:r>
              <a:rPr lang="en-US" sz="2600" b="1" i="0" spc="0" dirty="0">
                <a:solidFill>
                  <a:srgbClr val="F4F2EC"/>
                </a:solidFill>
                <a:latin typeface="Space Grotesk"/>
                <a:ea typeface="Space Grotesk"/>
                <a:cs typeface="Space Grotesk"/>
                <a:sym typeface="Space Grotesk"/>
              </a:rPr>
              <a:t xml:space="preserve">29 °C</a:t>
            </a:r>
          </a:p>
        </p:txBody>
      </p:sp>
      <p:sp>
        <p:nvSpPr>
          <p:cNvPr id="20" name="Cell 3 base"/>
          <p:cNvSpPr/>
          <p:nvPr/>
        </p:nvSpPr>
        <p:spPr>
          <a:xfrm>
            <a:off x="7580376" y="3717036"/>
            <a:ext cx="2990088" cy="875538"/>
          </a:xfrm>
          <a:prstGeom prst="roundRect">
            <a:avLst>
              <a:gd name="adj" fmla="val 12000"/>
            </a:avLst>
          </a:prstGeom>
          <a:solidFill>
            <a:srgbClr val="F4F2EC"/>
          </a:solidFill>
          <a:ln>
            <a:noFill/>
          </a:ln>
        </p:spPr>
        <p:txBody>
          <a:bodyPr wrap="square" lIns="0" tIns="0" rIns="0" bIns="0" anchor="t" anchorCtr="0">
            <a:noAutofit/>
          </a:bodyPr>
          <a:lstStyle/>
          <a:p>
            <a:endParaRPr lang="en-US"/>
          </a:p>
        </p:txBody>
      </p:sp>
      <p:sp>
        <p:nvSpPr>
          <p:cNvPr id="21" name="Cell 3 glow"/>
          <p:cNvSpPr/>
          <p:nvPr/>
        </p:nvSpPr>
        <p:spPr>
          <a:xfrm>
            <a:off x="7580376" y="3717036"/>
            <a:ext cx="2990088" cy="875538"/>
          </a:xfrm>
          <a:prstGeom prst="roundRect">
            <a:avLst>
              <a:gd name="adj" fmla="val 12000"/>
            </a:avLst>
          </a:prstGeom>
          <a:solidFill>
            <a:srgbClr val="FF6B2C"/>
          </a:solidFill>
          <a:ln>
            <a:noFill/>
          </a:ln>
        </p:spPr>
        <p:txBody>
          <a:bodyPr wrap="square" lIns="0" tIns="0" rIns="0" bIns="0" anchor="t" anchorCtr="0">
            <a:noAutofit/>
          </a:bodyPr>
          <a:lstStyle/>
          <a:p>
            <a:endParaRPr lang="en-US"/>
          </a:p>
        </p:txBody>
      </p:sp>
      <p:sp>
        <p:nvSpPr>
          <p:cNvPr id="22" name="Crack"/>
          <p:cNvSpPr/>
          <p:nvPr/>
        </p:nvSpPr>
        <p:spPr>
          <a:xfrm>
            <a:off x="7580376" y="3717036"/>
            <a:ext cx="2990088" cy="875538"/>
          </a:xfrm>
          <a:custGeom>
            <a:avLst/>
            <a:gdLst/>
            <a:ahLst/>
            <a:cxnLst/>
            <a:rect l="0" t="0" r="r" b="b"/>
            <a:pathLst>
              <a:path w="327000" h="95749">
                <a:moveTo>
                  <a:pt x="147000" y="0"/>
                </a:moveTo>
                <a:lnTo>
                  <a:pt x="135000" y="21064"/>
                </a:lnTo>
                <a:lnTo>
                  <a:pt x="155000" y="43087"/>
                </a:lnTo>
                <a:lnTo>
                  <a:pt x="138000" y="65109"/>
                </a:lnTo>
                <a:lnTo>
                  <a:pt x="157000" y="82344"/>
                </a:lnTo>
                <a:lnTo>
                  <a:pt x="148000" y="95749"/>
                </a:lnTo>
                <a:lnTo>
                  <a:pt x="155000" y="95749"/>
                </a:lnTo>
                <a:lnTo>
                  <a:pt x="164000" y="82344"/>
                </a:lnTo>
                <a:lnTo>
                  <a:pt x="145000" y="65109"/>
                </a:lnTo>
                <a:lnTo>
                  <a:pt x="162000" y="43087"/>
                </a:lnTo>
                <a:lnTo>
                  <a:pt x="142000" y="21064"/>
                </a:lnTo>
                <a:lnTo>
                  <a:pt x="154000" y="0"/>
                </a:lnTo>
                <a:close/>
              </a:path>
            </a:pathLst>
          </a:custGeom>
          <a:solidFill>
            <a:srgbClr val="0E1A24"/>
          </a:solidFill>
          <a:ln>
            <a:noFill/>
          </a:ln>
        </p:spPr>
        <p:txBody>
          <a:bodyPr/>
          <a:lstStyle/>
          <a:p>
            <a:endParaRPr lang="en-US"/>
          </a:p>
        </p:txBody>
      </p:sp>
      <p:sp>
        <p:nvSpPr>
          <p:cNvPr id="23" name="Cell 3 label"/>
          <p:cNvSpPr txBox="1"/>
          <p:nvPr/>
        </p:nvSpPr>
        <p:spPr>
          <a:xfrm>
            <a:off x="7808976" y="3717036"/>
            <a:ext cx="1280160" cy="875538"/>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300" b="0" i="0" spc="150" dirty="0">
                <a:solidFill>
                  <a:srgbClr val="0E1A24"/>
                </a:solidFill>
                <a:latin typeface="JetBrains Mono"/>
                <a:ea typeface="JetBrains Mono"/>
                <a:cs typeface="JetBrains Mono"/>
                <a:sym typeface="JetBrains Mono"/>
              </a:rPr>
              <a:t xml:space="preserve">CELL 3</a:t>
            </a:r>
          </a:p>
        </p:txBody>
      </p:sp>
      <p:sp>
        <p:nvSpPr>
          <p:cNvPr id="24" name="Cell 3 temp"/>
          <p:cNvSpPr txBox="1"/>
          <p:nvPr/>
        </p:nvSpPr>
        <p:spPr>
          <a:xfrm>
            <a:off x="8695944" y="3717036"/>
            <a:ext cx="1645920" cy="875538"/>
          </a:xfrm>
          <a:prstGeom prst="rect">
            <a:avLst/>
          </a:prstGeom>
          <a:noFill/>
          <a:ln>
            <a:noFill/>
          </a:ln>
        </p:spPr>
        <p:txBody>
          <a:bodyPr wrap="square" lIns="0" tIns="0" rIns="0" bIns="0" anchor="ctr" anchorCtr="0">
            <a:noAutofit/>
          </a:bodyPr>
          <a:lstStyle/>
          <a:p>
            <a:pPr marL="0" indent="0" algn="r">
              <a:lnSpc>
                <a:spcPct val="100000"/>
              </a:lnSpc>
              <a:spcBef>
                <a:spcPts val="0"/>
              </a:spcBef>
              <a:spcAft>
                <a:spcPts val="0"/>
              </a:spcAft>
              <a:buNone/>
            </a:pPr>
            <a:r>
              <a:rPr lang="en-US" sz="2600" b="1" i="0" spc="0" dirty="0">
                <a:solidFill>
                  <a:srgbClr val="0E1A24"/>
                </a:solidFill>
                <a:latin typeface="Space Grotesk"/>
                <a:ea typeface="Space Grotesk"/>
                <a:cs typeface="Space Grotesk"/>
                <a:sym typeface="Space Grotesk"/>
              </a:rPr>
              <a:t xml:space="preserve">200 °C</a:t>
            </a:r>
          </a:p>
        </p:txBody>
      </p:sp>
      <p:sp>
        <p:nvSpPr>
          <p:cNvPr id="25" name="Cell 4"/>
          <p:cNvSpPr/>
          <p:nvPr/>
        </p:nvSpPr>
        <p:spPr>
          <a:xfrm>
            <a:off x="7580376" y="4757166"/>
            <a:ext cx="2990088" cy="875538"/>
          </a:xfrm>
          <a:prstGeom prst="roundRect">
            <a:avLst>
              <a:gd name="adj" fmla="val 12000"/>
            </a:avLst>
          </a:prstGeom>
          <a:solidFill>
            <a:srgbClr val="16263A"/>
          </a:solidFill>
          <a:ln>
            <a:noFill/>
          </a:ln>
        </p:spPr>
        <p:txBody>
          <a:bodyPr wrap="square" lIns="0" tIns="0" rIns="0" bIns="0" anchor="t" anchorCtr="0">
            <a:noAutofit/>
          </a:bodyPr>
          <a:lstStyle/>
          <a:p>
            <a:endParaRPr lang="en-US"/>
          </a:p>
        </p:txBody>
      </p:sp>
      <p:sp>
        <p:nvSpPr>
          <p:cNvPr id="26" name="Cell 4 label"/>
          <p:cNvSpPr txBox="1"/>
          <p:nvPr/>
        </p:nvSpPr>
        <p:spPr>
          <a:xfrm>
            <a:off x="7808976" y="4757166"/>
            <a:ext cx="1280160" cy="875538"/>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300" b="0" i="0" spc="150" dirty="0">
                <a:solidFill>
                  <a:srgbClr val="B8C4CE"/>
                </a:solidFill>
                <a:latin typeface="JetBrains Mono"/>
                <a:ea typeface="JetBrains Mono"/>
                <a:cs typeface="JetBrains Mono"/>
                <a:sym typeface="JetBrains Mono"/>
              </a:rPr>
              <a:t xml:space="preserve">CELL 4</a:t>
            </a:r>
          </a:p>
        </p:txBody>
      </p:sp>
      <p:sp>
        <p:nvSpPr>
          <p:cNvPr id="27" name="Cell 4 temp"/>
          <p:cNvSpPr txBox="1"/>
          <p:nvPr/>
        </p:nvSpPr>
        <p:spPr>
          <a:xfrm>
            <a:off x="8695944" y="4757166"/>
            <a:ext cx="1645920" cy="875538"/>
          </a:xfrm>
          <a:prstGeom prst="rect">
            <a:avLst/>
          </a:prstGeom>
          <a:noFill/>
          <a:ln>
            <a:noFill/>
          </a:ln>
        </p:spPr>
        <p:txBody>
          <a:bodyPr wrap="square" lIns="0" tIns="0" rIns="0" bIns="0" anchor="ctr" anchorCtr="0">
            <a:noAutofit/>
          </a:bodyPr>
          <a:lstStyle/>
          <a:p>
            <a:pPr marL="0" indent="0" algn="r">
              <a:lnSpc>
                <a:spcPct val="100000"/>
              </a:lnSpc>
              <a:spcBef>
                <a:spcPts val="0"/>
              </a:spcBef>
              <a:spcAft>
                <a:spcPts val="0"/>
              </a:spcAft>
              <a:buNone/>
            </a:pPr>
            <a:r>
              <a:rPr lang="en-US" sz="2600" b="1" i="0" spc="0" dirty="0">
                <a:solidFill>
                  <a:srgbClr val="F4F2EC"/>
                </a:solidFill>
                <a:latin typeface="Space Grotesk"/>
                <a:ea typeface="Space Grotesk"/>
                <a:cs typeface="Space Grotesk"/>
                <a:sym typeface="Space Grotesk"/>
              </a:rPr>
              <a:t xml:space="preserve">27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repeatCount="indefinite" autoRev="1" fill="hold" nodeType="afterEffect">
                                  <p:stCondLst>
                                    <p:cond delay="0"/>
                                  </p:stCondLst>
                                  <p:childTnLst>
                                    <p:set>
                                      <p:cBhvr>
                                        <p:cTn id="6" dur="220" fill="hold"/>
                                        <p:tgtEl>
                                          <p:spTgt spid="21"/>
                                        </p:tgtEl>
                                        <p:attrNameLst>
                                          <p:attrName>style.opacity</p:attrName>
                                        </p:attrNameLst>
                                      </p:cBhvr>
                                      <p:to>
                                        <p:strVal val="0.1"/>
                                      </p:to>
                                    </p:set>
                                    <p:animEffect filter="image" prLst="opacity: 0.1">
                                      <p:cBhvr rctx="IE">
                                        <p:cTn id="7" dur="220" fill="hold"/>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2EC"/>
        </a:solidFill>
      </p:bgPr>
    </p:bg>
    <p:spTree>
      <p:nvGrpSpPr>
        <p:cNvPr id="154" name="Shape 154"/>
        <p:cNvGrpSpPr/>
        <p:nvPr/>
      </p:nvGrpSpPr>
      <p:grpSpPr>
        <a:xfrm>
          <a:off x="0" y="0"/>
          <a:ext cx="0" cy="0"/>
          <a:chOff x="0" y="0"/>
          <a:chExt cx="0" cy="0"/>
        </a:xfrm>
      </p:grpSpPr>
      <p:sp>
        <p:nvSpPr>
          <p:cNvPr id="155" name="Google Shape;155;p13"/>
          <p:cNvSpPr/>
          <p:nvPr/>
        </p:nvSpPr>
        <p:spPr>
          <a:xfrm>
            <a:off x="812800" y="812800"/>
            <a:ext cx="10883392"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10C"/>
              </a:buClr>
              <a:buSzPts val="1300"/>
              <a:buFont typeface="JetBrains Mono"/>
              <a:buNone/>
            </a:pPr>
            <a:r>
              <a:rPr b="0" i="0" lang="en-US" spc="150" sz="1300" u="none" cap="none" strike="noStrike">
                <a:solidFill>
                  <a:srgbClr val="B8410C"/>
                </a:solidFill>
                <a:latin typeface="JetBrains Mono"/>
                <a:ea typeface="JetBrains Mono"/>
                <a:cs typeface="JetBrains Mono"/>
                <a:sym typeface="JetBrains Mono"/>
              </a:rPr>
              <a:t>WHAT WE BUILT</a:t>
            </a:r>
            <a:endParaRPr b="0" i="0" sz="1300" u="none" cap="none" strike="noStrike">
              <a:solidFill>
                <a:schemeClr val="lt1"/>
              </a:solidFill>
              <a:latin typeface="IBM Plex Sans"/>
              <a:ea typeface="IBM Plex Sans"/>
              <a:cs typeface="IBM Plex Sans"/>
              <a:sym typeface="IBM Plex Sans"/>
            </a:endParaRPr>
          </a:p>
        </p:txBody>
      </p:sp>
      <p:sp>
        <p:nvSpPr>
          <p:cNvPr id="156" name="Google Shape;156;p13"/>
          <p:cNvSpPr txBox="1"/>
          <p:nvPr>
            <p:ph type="title"/>
          </p:nvPr>
        </p:nvSpPr>
        <p:spPr>
          <a:xfrm>
            <a:off x="812800" y="1145536"/>
            <a:ext cx="10883392" cy="4724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24"/>
              </a:buClr>
              <a:buSzPts val="3200"/>
              <a:buFont typeface="Space Grotesk"/>
              <a:buNone/>
            </a:pPr>
            <a:r>
              <a:rPr b="1" i="0" lang="en-US" sz="3200">
                <a:solidFill>
                  <a:srgbClr val="0E1A24"/>
                </a:solidFill>
                <a:latin typeface="Space Grotesk"/>
                <a:ea typeface="Space Grotesk"/>
                <a:cs typeface="Space Grotesk"/>
                <a:sym typeface="Space Grotesk"/>
              </a:rPr>
              <a:t>Six pieces, all working</a:t>
            </a:r>
            <a:endParaRPr sz="3200"/>
          </a:p>
        </p:txBody>
      </p:sp>
      <p:sp>
        <p:nvSpPr>
          <p:cNvPr id="157" name="Google Shape;157;p13"/>
          <p:cNvSpPr/>
          <p:nvPr/>
        </p:nvSpPr>
        <p:spPr>
          <a:xfrm>
            <a:off x="819150" y="2528063"/>
            <a:ext cx="3373946" cy="1647444"/>
          </a:xfrm>
          <a:prstGeom prst="roundRect">
            <a:avLst>
              <a:gd fmla="val 5782"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158" name="Google Shape;158;p13"/>
          <p:cNvPicPr preferRelativeResize="0"/>
          <p:nvPr/>
        </p:nvPicPr>
        <p:blipFill rotWithShape="1">
          <a:blip r:embed="rId3">
            <a:alphaModFix/>
          </a:blip>
          <a:srcRect b="0" l="0" r="0" t="0"/>
          <a:stretch/>
        </p:blipFill>
        <p:spPr>
          <a:xfrm>
            <a:off x="1053592" y="2762504"/>
            <a:ext cx="304800" cy="304800"/>
          </a:xfrm>
          <a:prstGeom prst="rect">
            <a:avLst/>
          </a:prstGeom>
          <a:noFill/>
          <a:ln>
            <a:noFill/>
          </a:ln>
        </p:spPr>
      </p:pic>
      <p:sp>
        <p:nvSpPr>
          <p:cNvPr id="159" name="Google Shape;159;p13"/>
          <p:cNvSpPr/>
          <p:nvPr/>
        </p:nvSpPr>
        <p:spPr>
          <a:xfrm>
            <a:off x="1053592" y="3143504"/>
            <a:ext cx="2992213"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1700"/>
              <a:buFont typeface="Space Grotesk"/>
              <a:buNone/>
            </a:pPr>
            <a:r>
              <a:rPr b="1" i="0" lang="en-US" sz="1700" u="none" cap="none" strike="noStrike">
                <a:solidFill>
                  <a:srgbClr val="0E1A24"/>
                </a:solidFill>
                <a:latin typeface="Space Grotesk"/>
                <a:ea typeface="Space Grotesk"/>
                <a:cs typeface="Space Grotesk"/>
                <a:sym typeface="Space Grotesk"/>
              </a:rPr>
              <a:t>Thermal Guardian</a:t>
            </a:r>
            <a:endParaRPr b="0" i="0" sz="1700" u="none" cap="none" strike="noStrike">
              <a:solidFill>
                <a:schemeClr val="lt1"/>
              </a:solidFill>
              <a:latin typeface="IBM Plex Sans"/>
              <a:ea typeface="IBM Plex Sans"/>
              <a:cs typeface="IBM Plex Sans"/>
              <a:sym typeface="IBM Plex Sans"/>
            </a:endParaRPr>
          </a:p>
        </p:txBody>
      </p:sp>
      <p:sp>
        <p:nvSpPr>
          <p:cNvPr id="160" name="Google Shape;160;p13"/>
          <p:cNvSpPr/>
          <p:nvPr/>
        </p:nvSpPr>
        <p:spPr>
          <a:xfrm>
            <a:off x="1053592" y="3478783"/>
            <a:ext cx="2992213" cy="487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Thermal-runaway early-warning service</a:t>
            </a:r>
            <a:endParaRPr b="0" i="0" sz="1300" u="none" cap="none" strike="noStrike">
              <a:solidFill>
                <a:schemeClr val="lt1"/>
              </a:solidFill>
              <a:latin typeface="IBM Plex Sans"/>
              <a:ea typeface="IBM Plex Sans"/>
              <a:cs typeface="IBM Plex Sans"/>
              <a:sym typeface="IBM Plex Sans"/>
            </a:endParaRPr>
          </a:p>
        </p:txBody>
      </p:sp>
      <p:sp>
        <p:nvSpPr>
          <p:cNvPr id="161" name="Google Shape;161;p13"/>
          <p:cNvSpPr/>
          <p:nvPr/>
        </p:nvSpPr>
        <p:spPr>
          <a:xfrm>
            <a:off x="4408995" y="2528063"/>
            <a:ext cx="3373946" cy="1647444"/>
          </a:xfrm>
          <a:prstGeom prst="roundRect">
            <a:avLst>
              <a:gd fmla="val 5782"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162" name="Google Shape;162;p13"/>
          <p:cNvPicPr preferRelativeResize="0"/>
          <p:nvPr/>
        </p:nvPicPr>
        <p:blipFill rotWithShape="1">
          <a:blip r:embed="rId4">
            <a:alphaModFix/>
          </a:blip>
          <a:srcRect b="0" l="0" r="0" t="0"/>
          <a:stretch/>
        </p:blipFill>
        <p:spPr>
          <a:xfrm>
            <a:off x="4643438" y="2762504"/>
            <a:ext cx="304800" cy="304800"/>
          </a:xfrm>
          <a:prstGeom prst="rect">
            <a:avLst/>
          </a:prstGeom>
          <a:noFill/>
          <a:ln>
            <a:noFill/>
          </a:ln>
        </p:spPr>
      </p:pic>
      <p:sp>
        <p:nvSpPr>
          <p:cNvPr id="163" name="Google Shape;163;p13"/>
          <p:cNvSpPr/>
          <p:nvPr/>
        </p:nvSpPr>
        <p:spPr>
          <a:xfrm>
            <a:off x="4643438" y="3143504"/>
            <a:ext cx="2992213"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1700"/>
              <a:buFont typeface="Space Grotesk"/>
              <a:buNone/>
            </a:pPr>
            <a:r>
              <a:rPr b="1" i="0" lang="en-US" sz="1700" u="none" cap="none" strike="noStrike">
                <a:solidFill>
                  <a:srgbClr val="0E1A24"/>
                </a:solidFill>
                <a:latin typeface="Space Grotesk"/>
                <a:ea typeface="Space Grotesk"/>
                <a:cs typeface="Space Grotesk"/>
                <a:sym typeface="Space Grotesk"/>
              </a:rPr>
              <a:t>No silent disarm</a:t>
            </a:r>
            <a:endParaRPr b="0" i="0" sz="1700" u="none" cap="none" strike="noStrike">
              <a:solidFill>
                <a:schemeClr val="lt1"/>
              </a:solidFill>
              <a:latin typeface="IBM Plex Sans"/>
              <a:ea typeface="IBM Plex Sans"/>
              <a:cs typeface="IBM Plex Sans"/>
              <a:sym typeface="IBM Plex Sans"/>
            </a:endParaRPr>
          </a:p>
        </p:txBody>
      </p:sp>
      <p:sp>
        <p:nvSpPr>
          <p:cNvPr id="164" name="Google Shape;164;p13"/>
          <p:cNvSpPr/>
          <p:nvPr/>
        </p:nvSpPr>
        <p:spPr>
          <a:xfrm>
            <a:off x="4643438" y="3478783"/>
            <a:ext cx="2992213" cy="487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A stale or stuck cell signal can't quietly switch off the warning</a:t>
            </a:r>
            <a:endParaRPr b="0" i="0" sz="1300" u="none" cap="none" strike="noStrike">
              <a:solidFill>
                <a:schemeClr val="lt1"/>
              </a:solidFill>
              <a:latin typeface="IBM Plex Sans"/>
              <a:ea typeface="IBM Plex Sans"/>
              <a:cs typeface="IBM Plex Sans"/>
              <a:sym typeface="IBM Plex Sans"/>
            </a:endParaRPr>
          </a:p>
        </p:txBody>
      </p:sp>
      <p:sp>
        <p:nvSpPr>
          <p:cNvPr id="165" name="Google Shape;165;p13"/>
          <p:cNvSpPr/>
          <p:nvPr/>
        </p:nvSpPr>
        <p:spPr>
          <a:xfrm>
            <a:off x="7998840" y="2528063"/>
            <a:ext cx="3373946" cy="1647444"/>
          </a:xfrm>
          <a:prstGeom prst="roundRect">
            <a:avLst>
              <a:gd fmla="val 5782"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ning" id="166" name="Google Shape;166;p13"/>
          <p:cNvPicPr preferRelativeResize="0"/>
          <p:nvPr/>
        </p:nvPicPr>
        <p:blipFill rotWithShape="1">
          <a:blip r:embed="rId5">
            <a:alphaModFix/>
          </a:blip>
          <a:srcRect b="0" l="0" r="0" t="0"/>
          <a:stretch/>
        </p:blipFill>
        <p:spPr>
          <a:xfrm>
            <a:off x="8233283" y="2762504"/>
            <a:ext cx="304800" cy="304800"/>
          </a:xfrm>
          <a:prstGeom prst="rect">
            <a:avLst/>
          </a:prstGeom>
          <a:noFill/>
          <a:ln>
            <a:noFill/>
          </a:ln>
        </p:spPr>
      </p:pic>
      <p:sp>
        <p:nvSpPr>
          <p:cNvPr id="167" name="Google Shape;167;p13"/>
          <p:cNvSpPr/>
          <p:nvPr/>
        </p:nvSpPr>
        <p:spPr>
          <a:xfrm>
            <a:off x="8233283" y="3143504"/>
            <a:ext cx="2992213"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1700"/>
              <a:buFont typeface="Space Grotesk"/>
              <a:buNone/>
            </a:pPr>
            <a:r>
              <a:rPr b="1" i="0" lang="en-US" sz="1700" u="none" cap="none" strike="noStrike">
                <a:solidFill>
                  <a:srgbClr val="0E1A24"/>
                </a:solidFill>
                <a:latin typeface="Space Grotesk"/>
                <a:ea typeface="Space Grotesk"/>
                <a:cs typeface="Space Grotesk"/>
                <a:sym typeface="Space Grotesk"/>
              </a:rPr>
              <a:t>uProtocol events</a:t>
            </a:r>
            <a:endParaRPr b="0" i="0" sz="1700" u="none" cap="none" strike="noStrike">
              <a:solidFill>
                <a:schemeClr val="lt1"/>
              </a:solidFill>
              <a:latin typeface="IBM Plex Sans"/>
              <a:ea typeface="IBM Plex Sans"/>
              <a:cs typeface="IBM Plex Sans"/>
              <a:sym typeface="IBM Plex Sans"/>
            </a:endParaRPr>
          </a:p>
        </p:txBody>
      </p:sp>
      <p:sp>
        <p:nvSpPr>
          <p:cNvPr id="168" name="Google Shape;168;p13"/>
          <p:cNvSpPr/>
          <p:nvPr/>
        </p:nvSpPr>
        <p:spPr>
          <a:xfrm>
            <a:off x="8233283" y="3478783"/>
            <a:ext cx="2992213"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Heartbeat, fault and mitigation</a:t>
            </a:r>
            <a:endParaRPr b="0" i="0" sz="1300" u="none" cap="none" strike="noStrike">
              <a:solidFill>
                <a:schemeClr val="lt1"/>
              </a:solidFill>
              <a:latin typeface="IBM Plex Sans"/>
              <a:ea typeface="IBM Plex Sans"/>
              <a:cs typeface="IBM Plex Sans"/>
              <a:sym typeface="IBM Plex Sans"/>
            </a:endParaRPr>
          </a:p>
        </p:txBody>
      </p:sp>
      <p:sp>
        <p:nvSpPr>
          <p:cNvPr id="169" name="Google Shape;169;p13"/>
          <p:cNvSpPr/>
          <p:nvPr/>
        </p:nvSpPr>
        <p:spPr>
          <a:xfrm>
            <a:off x="819150" y="4391403"/>
            <a:ext cx="3373946" cy="1647444"/>
          </a:xfrm>
          <a:prstGeom prst="roundRect">
            <a:avLst>
              <a:gd fmla="val 5782"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ied" id="170" name="Google Shape;170;p13"/>
          <p:cNvPicPr preferRelativeResize="0"/>
          <p:nvPr/>
        </p:nvPicPr>
        <p:blipFill rotWithShape="1">
          <a:blip r:embed="rId6">
            <a:alphaModFix/>
          </a:blip>
          <a:srcRect b="0" l="0" r="0" t="0"/>
          <a:stretch/>
        </p:blipFill>
        <p:spPr>
          <a:xfrm>
            <a:off x="1053592" y="4625845"/>
            <a:ext cx="304800" cy="304800"/>
          </a:xfrm>
          <a:prstGeom prst="rect">
            <a:avLst/>
          </a:prstGeom>
          <a:noFill/>
          <a:ln>
            <a:noFill/>
          </a:ln>
        </p:spPr>
      </p:pic>
      <p:sp>
        <p:nvSpPr>
          <p:cNvPr id="171" name="Google Shape;171;p13"/>
          <p:cNvSpPr/>
          <p:nvPr/>
        </p:nvSpPr>
        <p:spPr>
          <a:xfrm>
            <a:off x="1053592" y="5006845"/>
            <a:ext cx="2992213"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1700"/>
              <a:buFont typeface="Space Grotesk"/>
              <a:buNone/>
            </a:pPr>
            <a:r>
              <a:rPr b="1" i="0" lang="en-US" sz="1700" u="none" cap="none" strike="noStrike">
                <a:solidFill>
                  <a:srgbClr val="0E1A24"/>
                </a:solidFill>
                <a:latin typeface="Space Grotesk"/>
                <a:ea typeface="Space Grotesk"/>
                <a:cs typeface="Space Grotesk"/>
                <a:sym typeface="Space Grotesk"/>
              </a:rPr>
              <a:t>Diagnostic truth</a:t>
            </a:r>
            <a:endParaRPr b="0" i="0" sz="1700" u="none" cap="none" strike="noStrike">
              <a:solidFill>
                <a:schemeClr val="lt1"/>
              </a:solidFill>
              <a:latin typeface="IBM Plex Sans"/>
              <a:ea typeface="IBM Plex Sans"/>
              <a:cs typeface="IBM Plex Sans"/>
              <a:sym typeface="IBM Plex Sans"/>
            </a:endParaRPr>
          </a:p>
        </p:txBody>
      </p:sp>
      <p:sp>
        <p:nvSpPr>
          <p:cNvPr id="172" name="Google Shape;172;p13"/>
          <p:cNvSpPr/>
          <p:nvPr/>
        </p:nvSpPr>
        <p:spPr>
          <a:xfrm>
            <a:off x="1053592" y="5342124"/>
            <a:ext cx="2992213" cy="487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Every fault recorded through Eclipse OpenSOVD</a:t>
            </a:r>
            <a:endParaRPr b="0" i="0" sz="1300" u="none" cap="none" strike="noStrike">
              <a:solidFill>
                <a:schemeClr val="lt1"/>
              </a:solidFill>
              <a:latin typeface="IBM Plex Sans"/>
              <a:ea typeface="IBM Plex Sans"/>
              <a:cs typeface="IBM Plex Sans"/>
              <a:sym typeface="IBM Plex Sans"/>
            </a:endParaRPr>
          </a:p>
        </p:txBody>
      </p:sp>
      <p:sp>
        <p:nvSpPr>
          <p:cNvPr id="173" name="Google Shape;173;p13"/>
          <p:cNvSpPr/>
          <p:nvPr/>
        </p:nvSpPr>
        <p:spPr>
          <a:xfrm>
            <a:off x="4408995" y="4391403"/>
            <a:ext cx="3373946" cy="1647444"/>
          </a:xfrm>
          <a:prstGeom prst="roundRect">
            <a:avLst>
              <a:gd fmla="val 5782" name="adj"/>
            </a:avLst>
          </a:prstGeom>
          <a:solidFill>
            <a:srgbClr val="FFFFFF"/>
          </a:solidFill>
          <a:ln cap="flat" cmpd="sng" w="12700">
            <a:solidFill>
              <a:srgbClr val="E0DB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174" name="Google Shape;174;p13"/>
          <p:cNvPicPr preferRelativeResize="0"/>
          <p:nvPr/>
        </p:nvPicPr>
        <p:blipFill rotWithShape="1">
          <a:blip r:embed="rId7">
            <a:alphaModFix/>
          </a:blip>
          <a:srcRect b="0" l="0" r="0" t="0"/>
          <a:stretch/>
        </p:blipFill>
        <p:spPr>
          <a:xfrm>
            <a:off x="4643438" y="4625845"/>
            <a:ext cx="304800" cy="304800"/>
          </a:xfrm>
          <a:prstGeom prst="rect">
            <a:avLst/>
          </a:prstGeom>
          <a:noFill/>
          <a:ln>
            <a:noFill/>
          </a:ln>
        </p:spPr>
      </p:pic>
      <p:sp>
        <p:nvSpPr>
          <p:cNvPr id="175" name="Google Shape;175;p13"/>
          <p:cNvSpPr/>
          <p:nvPr/>
        </p:nvSpPr>
        <p:spPr>
          <a:xfrm>
            <a:off x="4643438" y="5006845"/>
            <a:ext cx="2992213"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E1A24"/>
              </a:buClr>
              <a:buSzPts val="1700"/>
              <a:buFont typeface="Space Grotesk"/>
              <a:buNone/>
            </a:pPr>
            <a:r>
              <a:rPr b="1" i="0" lang="en-US" sz="1700" u="none" cap="none" strike="noStrike">
                <a:solidFill>
                  <a:srgbClr val="0E1A24"/>
                </a:solidFill>
                <a:latin typeface="Space Grotesk"/>
                <a:ea typeface="Space Grotesk"/>
                <a:cs typeface="Space Grotesk"/>
                <a:sym typeface="Space Grotesk"/>
              </a:rPr>
              <a:t>Supervised</a:t>
            </a:r>
            <a:endParaRPr b="0" i="0" sz="1700" u="none" cap="none" strike="noStrike">
              <a:solidFill>
                <a:schemeClr val="lt1"/>
              </a:solidFill>
              <a:latin typeface="IBM Plex Sans"/>
              <a:ea typeface="IBM Plex Sans"/>
              <a:cs typeface="IBM Plex Sans"/>
              <a:sym typeface="IBM Plex Sans"/>
            </a:endParaRPr>
          </a:p>
        </p:txBody>
      </p:sp>
      <p:sp>
        <p:nvSpPr>
          <p:cNvPr id="176" name="Google Shape;176;p13"/>
          <p:cNvSpPr/>
          <p:nvPr/>
        </p:nvSpPr>
        <p:spPr>
          <a:xfrm>
            <a:off x="4643438" y="5342124"/>
            <a:ext cx="2992213" cy="487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The whole stack runs under Eclipse Ankaios</a:t>
            </a:r>
            <a:endParaRPr b="0" i="0" sz="1300" u="none" cap="none" strike="noStrike">
              <a:solidFill>
                <a:schemeClr val="lt1"/>
              </a:solidFill>
              <a:latin typeface="IBM Plex Sans"/>
              <a:ea typeface="IBM Plex Sans"/>
              <a:cs typeface="IBM Plex Sans"/>
              <a:sym typeface="IBM Plex Sans"/>
            </a:endParaRPr>
          </a:p>
        </p:txBody>
      </p:sp>
      <p:sp>
        <p:nvSpPr>
          <p:cNvPr id="177" name="Google Shape;177;p13"/>
          <p:cNvSpPr/>
          <p:nvPr/>
        </p:nvSpPr>
        <p:spPr>
          <a:xfrm>
            <a:off x="7998840" y="4391403"/>
            <a:ext cx="3373946" cy="1647444"/>
          </a:xfrm>
          <a:prstGeom prst="roundRect">
            <a:avLst>
              <a:gd fmla="val 5782" name="adj"/>
            </a:avLst>
          </a:prstGeom>
          <a:solidFill>
            <a:srgbClr val="0E1A24"/>
          </a:solidFill>
          <a:ln cap="flat" cmpd="sng" w="12700">
            <a:solidFill>
              <a:srgbClr val="0E1A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178" name="Google Shape;178;p13"/>
          <p:cNvPicPr preferRelativeResize="0"/>
          <p:nvPr/>
        </p:nvPicPr>
        <p:blipFill rotWithShape="1">
          <a:blip r:embed="rId8">
            <a:alphaModFix/>
          </a:blip>
          <a:srcRect b="0" l="0" r="0" t="0"/>
          <a:stretch/>
        </p:blipFill>
        <p:spPr>
          <a:xfrm>
            <a:off x="8233283" y="4625845"/>
            <a:ext cx="304800" cy="304800"/>
          </a:xfrm>
          <a:prstGeom prst="rect">
            <a:avLst/>
          </a:prstGeom>
          <a:noFill/>
          <a:ln>
            <a:noFill/>
          </a:ln>
        </p:spPr>
      </p:pic>
      <p:sp>
        <p:nvSpPr>
          <p:cNvPr id="179" name="Google Shape;179;p13"/>
          <p:cNvSpPr/>
          <p:nvPr/>
        </p:nvSpPr>
        <p:spPr>
          <a:xfrm>
            <a:off x="8233283" y="5006845"/>
            <a:ext cx="2992213"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1700"/>
              <a:buFont typeface="Space Grotesk"/>
              <a:buNone/>
            </a:pPr>
            <a:r>
              <a:rPr b="1" i="0" lang="en-US" sz="1700" u="none" cap="none" strike="noStrike">
                <a:solidFill>
                  <a:srgbClr val="F4F2EC"/>
                </a:solidFill>
                <a:latin typeface="Space Grotesk"/>
                <a:ea typeface="Space Grotesk"/>
                <a:cs typeface="Space Grotesk"/>
                <a:sym typeface="Space Grotesk"/>
              </a:rPr>
              <a:t>Fault campaigns</a:t>
            </a:r>
            <a:endParaRPr b="0" i="0" sz="1700" u="none" cap="none" strike="noStrike">
              <a:solidFill>
                <a:schemeClr val="lt1"/>
              </a:solidFill>
              <a:latin typeface="IBM Plex Sans"/>
              <a:ea typeface="IBM Plex Sans"/>
              <a:cs typeface="IBM Plex Sans"/>
              <a:sym typeface="IBM Plex Sans"/>
            </a:endParaRPr>
          </a:p>
        </p:txBody>
      </p:sp>
      <p:sp>
        <p:nvSpPr>
          <p:cNvPr id="180" name="Google Shape;180;p13"/>
          <p:cNvSpPr/>
          <p:nvPr/>
        </p:nvSpPr>
        <p:spPr>
          <a:xfrm>
            <a:off x="8233283" y="5342124"/>
            <a:ext cx="2992213"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300"/>
              <a:buFont typeface="IBM Plex Sans"/>
              <a:buNone/>
            </a:pPr>
            <a:r>
              <a:rPr b="0" i="0" lang="en-US" sz="1300" u="none" cap="none" strike="noStrike">
                <a:solidFill>
                  <a:srgbClr val="B8C4CE"/>
                </a:solidFill>
                <a:latin typeface="IBM Plex Sans"/>
                <a:ea typeface="IBM Plex Sans"/>
                <a:cs typeface="IBM Plex Sans"/>
                <a:sym typeface="IBM Plex Sans"/>
              </a:rPr>
              <a:t>Repeatable, at three levels</a:t>
            </a:r>
            <a:endParaRPr b="0" i="0" sz="13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24"/>
        </a:solidFill>
      </p:bgPr>
    </p:bg>
    <p:spTree>
      <p:nvGrpSpPr>
        <p:cNvPr id="185" name="Shape 185"/>
        <p:cNvGrpSpPr/>
        <p:nvPr/>
      </p:nvGrpSpPr>
      <p:grpSpPr>
        <a:xfrm>
          <a:off x="0" y="0"/>
          <a:ext cx="0" cy="0"/>
          <a:chOff x="0" y="0"/>
          <a:chExt cx="0" cy="0"/>
        </a:xfrm>
      </p:grpSpPr>
      <p:sp>
        <p:nvSpPr>
          <p:cNvPr id="186" name="Google Shape;186;p14"/>
          <p:cNvSpPr/>
          <p:nvPr/>
        </p:nvSpPr>
        <p:spPr>
          <a:xfrm>
            <a:off x="0" y="0"/>
            <a:ext cx="152400" cy="6858000"/>
          </a:xfrm>
          <a:prstGeom prst="rect">
            <a:avLst/>
          </a:prstGeom>
          <a:gradFill>
            <a:gsLst>
              <a:gs pos="0">
                <a:srgbClr val="FF6B2C"/>
              </a:gs>
              <a:gs pos="100000">
                <a:srgbClr val="FFB347"/>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txBox="1"/>
          <p:nvPr>
            <p:ph type="title"/>
          </p:nvPr>
        </p:nvSpPr>
        <p:spPr>
          <a:xfrm>
            <a:off x="812800" y="812800"/>
            <a:ext cx="10883392" cy="8255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4F2EC"/>
              </a:buClr>
              <a:buSzPts val="6000"/>
              <a:buFont typeface="Space Grotesk"/>
              <a:buNone/>
            </a:pPr>
            <a:r>
              <a:rPr b="1" i="0" lang="en-US" spc="-100" sz="6000">
                <a:solidFill>
                  <a:srgbClr val="F4F2EC"/>
                </a:solidFill>
                <a:latin typeface="Space Grotesk"/>
                <a:ea typeface="Space Grotesk"/>
                <a:cs typeface="Space Grotesk"/>
                <a:sym typeface="Space Grotesk"/>
              </a:rPr>
              <a:t>So, </a:t>
            </a:r>
            <a:r>
              <a:rPr b="1" i="0" lang="en-US" spc="-100" sz="6000">
                <a:solidFill>
                  <a:srgbClr val="FF6B2C"/>
                </a:solidFill>
                <a:latin typeface="Space Grotesk"/>
                <a:ea typeface="Space Grotesk"/>
                <a:cs typeface="Space Grotesk"/>
                <a:sym typeface="Space Grotesk"/>
              </a:rPr>
              <a:t>200 °C.</a:t>
            </a:r>
            <a:endParaRPr sz="6000"/>
          </a:p>
        </p:txBody>
      </p:sp>
      <p:sp>
        <p:nvSpPr>
          <p:cNvPr id="188" name="Google Shape;188;p14"/>
          <p:cNvSpPr/>
          <p:nvPr/>
        </p:nvSpPr>
        <p:spPr>
          <a:xfrm>
            <a:off x="812800" y="1765300"/>
            <a:ext cx="9156700" cy="388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8C4CE"/>
              </a:buClr>
              <a:buSzPts val="2200"/>
              <a:buFont typeface="IBM Plex Sans"/>
              <a:buNone/>
            </a:pPr>
            <a:r>
              <a:rPr b="0" i="0" lang="en-US" sz="2200" u="none" cap="none" strike="noStrike">
                <a:solidFill>
                  <a:srgbClr val="B8C4CE"/>
                </a:solidFill>
                <a:latin typeface="IBM Plex Sans"/>
                <a:ea typeface="IBM Plex Sans"/>
                <a:cs typeface="IBM Plex Sans"/>
                <a:sym typeface="IBM Plex Sans"/>
              </a:rPr>
              <a:t>Not a number to guess. A question to answer, and then prove.</a:t>
            </a:r>
            <a:endParaRPr b="0" i="0" sz="2200" u="none" cap="none" strike="noStrike">
              <a:solidFill>
                <a:schemeClr val="lt1"/>
              </a:solidFill>
              <a:latin typeface="IBM Plex Sans"/>
              <a:ea typeface="IBM Plex Sans"/>
              <a:cs typeface="IBM Plex Sans"/>
              <a:sym typeface="IBM Plex Sans"/>
            </a:endParaRPr>
          </a:p>
        </p:txBody>
      </p:sp>
      <p:cxnSp>
        <p:nvCxnSpPr>
          <p:cNvPr id="189" name="Google Shape;189;p14"/>
          <p:cNvCxnSpPr/>
          <p:nvPr/>
        </p:nvCxnSpPr>
        <p:spPr>
          <a:xfrm>
            <a:off x="812800" y="4890517"/>
            <a:ext cx="3386646" cy="0"/>
          </a:xfrm>
          <a:prstGeom prst="straightConnector1">
            <a:avLst/>
          </a:prstGeom>
          <a:noFill/>
          <a:ln cap="flat" cmpd="sng" w="25400">
            <a:solidFill>
              <a:srgbClr val="FF6B2C"/>
            </a:solidFill>
            <a:prstDash val="solid"/>
            <a:round/>
            <a:headEnd len="sm" w="sm" type="none"/>
            <a:tailEnd len="sm" w="sm" type="none"/>
          </a:ln>
        </p:spPr>
      </p:cxnSp>
      <p:sp>
        <p:nvSpPr>
          <p:cNvPr id="190" name="Google Shape;190;p14"/>
          <p:cNvSpPr/>
          <p:nvPr/>
        </p:nvSpPr>
        <p:spPr>
          <a:xfrm>
            <a:off x="812800" y="5054600"/>
            <a:ext cx="3488245" cy="299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1800"/>
              <a:buFont typeface="Space Grotesk"/>
              <a:buNone/>
            </a:pPr>
            <a:r>
              <a:rPr b="1" i="0" lang="en-US" sz="1800" u="none" cap="none" strike="noStrike">
                <a:solidFill>
                  <a:srgbClr val="F4F2EC"/>
                </a:solidFill>
                <a:latin typeface="Space Grotesk"/>
                <a:ea typeface="Space Grotesk"/>
                <a:cs typeface="Space Grotesk"/>
                <a:sym typeface="Space Grotesk"/>
              </a:rPr>
              <a:t>Re-run on every change</a:t>
            </a:r>
            <a:endParaRPr b="0" i="0" sz="1800" u="none" cap="none" strike="noStrike">
              <a:solidFill>
                <a:schemeClr val="lt1"/>
              </a:solidFill>
              <a:latin typeface="IBM Plex Sans"/>
              <a:ea typeface="IBM Plex Sans"/>
              <a:cs typeface="IBM Plex Sans"/>
              <a:sym typeface="IBM Plex Sans"/>
            </a:endParaRPr>
          </a:p>
        </p:txBody>
      </p:sp>
      <p:sp>
        <p:nvSpPr>
          <p:cNvPr id="191" name="Google Shape;191;p14"/>
          <p:cNvSpPr/>
          <p:nvPr/>
        </p:nvSpPr>
        <p:spPr>
          <a:xfrm>
            <a:off x="812800" y="5379721"/>
            <a:ext cx="3488245"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300"/>
              <a:buFont typeface="IBM Plex Sans"/>
              <a:buNone/>
            </a:pPr>
            <a:r>
              <a:rPr b="0" i="0" lang="en-US" sz="1300" u="none" cap="none" strike="noStrike">
                <a:solidFill>
                  <a:srgbClr val="B8C4CE"/>
                </a:solidFill>
                <a:latin typeface="IBM Plex Sans"/>
                <a:ea typeface="IBM Plex Sans"/>
                <a:cs typeface="IBM Plex Sans"/>
                <a:sym typeface="IBM Plex Sans"/>
              </a:rPr>
              <a:t>Proof, not a demo that worked once</a:t>
            </a:r>
            <a:endParaRPr b="0" i="0" sz="1300" u="none" cap="none" strike="noStrike">
              <a:solidFill>
                <a:schemeClr val="lt1"/>
              </a:solidFill>
              <a:latin typeface="IBM Plex Sans"/>
              <a:ea typeface="IBM Plex Sans"/>
              <a:cs typeface="IBM Plex Sans"/>
              <a:sym typeface="IBM Plex Sans"/>
            </a:endParaRPr>
          </a:p>
        </p:txBody>
      </p:sp>
      <p:cxnSp>
        <p:nvCxnSpPr>
          <p:cNvPr id="192" name="Google Shape;192;p14"/>
          <p:cNvCxnSpPr/>
          <p:nvPr/>
        </p:nvCxnSpPr>
        <p:spPr>
          <a:xfrm>
            <a:off x="4402645" y="4890517"/>
            <a:ext cx="3386709" cy="0"/>
          </a:xfrm>
          <a:prstGeom prst="straightConnector1">
            <a:avLst/>
          </a:prstGeom>
          <a:noFill/>
          <a:ln cap="flat" cmpd="sng" w="25400">
            <a:solidFill>
              <a:srgbClr val="FFB347"/>
            </a:solidFill>
            <a:prstDash val="solid"/>
            <a:round/>
            <a:headEnd len="sm" w="sm" type="none"/>
            <a:tailEnd len="sm" w="sm" type="none"/>
          </a:ln>
        </p:spPr>
      </p:cxnSp>
      <p:sp>
        <p:nvSpPr>
          <p:cNvPr id="193" name="Google Shape;193;p14"/>
          <p:cNvSpPr/>
          <p:nvPr/>
        </p:nvSpPr>
        <p:spPr>
          <a:xfrm>
            <a:off x="4402645" y="5054600"/>
            <a:ext cx="3488310" cy="299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1800"/>
              <a:buFont typeface="Space Grotesk"/>
              <a:buNone/>
            </a:pPr>
            <a:r>
              <a:rPr b="1" i="0" lang="en-US" sz="1800" u="none" cap="none" strike="noStrike">
                <a:solidFill>
                  <a:srgbClr val="F4F2EC"/>
                </a:solidFill>
                <a:latin typeface="Space Grotesk"/>
                <a:ea typeface="Space Grotesk"/>
                <a:cs typeface="Space Grotesk"/>
                <a:sym typeface="Space Grotesk"/>
              </a:rPr>
              <a:t>Open by design</a:t>
            </a:r>
            <a:endParaRPr b="0" i="0" sz="1800" u="none" cap="none" strike="noStrike">
              <a:solidFill>
                <a:schemeClr val="lt1"/>
              </a:solidFill>
              <a:latin typeface="IBM Plex Sans"/>
              <a:ea typeface="IBM Plex Sans"/>
              <a:cs typeface="IBM Plex Sans"/>
              <a:sym typeface="IBM Plex Sans"/>
            </a:endParaRPr>
          </a:p>
        </p:txBody>
      </p:sp>
      <p:sp>
        <p:nvSpPr>
          <p:cNvPr id="194" name="Google Shape;194;p14"/>
          <p:cNvSpPr/>
          <p:nvPr/>
        </p:nvSpPr>
        <p:spPr>
          <a:xfrm>
            <a:off x="4402645" y="5379721"/>
            <a:ext cx="3488310" cy="487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300"/>
              <a:buFont typeface="IBM Plex Sans"/>
              <a:buNone/>
            </a:pPr>
            <a:r>
              <a:rPr b="0" i="0" lang="en-US" sz="1300" u="none" cap="none" strike="noStrike">
                <a:solidFill>
                  <a:srgbClr val="B8C4CE"/>
                </a:solidFill>
                <a:latin typeface="IBM Plex Sans"/>
                <a:ea typeface="IBM Plex Sans"/>
                <a:cs typeface="IBM Plex Sans"/>
                <a:sym typeface="IBM Plex Sans"/>
              </a:rPr>
              <a:t>Built on Eclipse projects, shipped as an SDV Blueprint</a:t>
            </a:r>
            <a:endParaRPr b="0" i="0" sz="1300" u="none" cap="none" strike="noStrike">
              <a:solidFill>
                <a:schemeClr val="lt1"/>
              </a:solidFill>
              <a:latin typeface="IBM Plex Sans"/>
              <a:ea typeface="IBM Plex Sans"/>
              <a:cs typeface="IBM Plex Sans"/>
              <a:sym typeface="IBM Plex Sans"/>
            </a:endParaRPr>
          </a:p>
        </p:txBody>
      </p:sp>
      <p:cxnSp>
        <p:nvCxnSpPr>
          <p:cNvPr id="195" name="Google Shape;195;p14"/>
          <p:cNvCxnSpPr/>
          <p:nvPr/>
        </p:nvCxnSpPr>
        <p:spPr>
          <a:xfrm>
            <a:off x="7992554" y="4890517"/>
            <a:ext cx="3386646" cy="0"/>
          </a:xfrm>
          <a:prstGeom prst="straightConnector1">
            <a:avLst/>
          </a:prstGeom>
          <a:noFill/>
          <a:ln cap="flat" cmpd="sng" w="25400">
            <a:solidFill>
              <a:srgbClr val="7C8B98"/>
            </a:solidFill>
            <a:prstDash val="solid"/>
            <a:round/>
            <a:headEnd len="sm" w="sm" type="none"/>
            <a:tailEnd len="sm" w="sm" type="none"/>
          </a:ln>
        </p:spPr>
      </p:cxnSp>
      <p:sp>
        <p:nvSpPr>
          <p:cNvPr id="196" name="Google Shape;196;p14"/>
          <p:cNvSpPr/>
          <p:nvPr/>
        </p:nvSpPr>
        <p:spPr>
          <a:xfrm>
            <a:off x="7992554" y="5054600"/>
            <a:ext cx="3488245" cy="299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2EC"/>
              </a:buClr>
              <a:buSzPts val="1800"/>
              <a:buFont typeface="Space Grotesk"/>
              <a:buNone/>
            </a:pPr>
            <a:r>
              <a:rPr b="1" i="0" lang="en-US" sz="1800" u="none" cap="none" strike="noStrike">
                <a:solidFill>
                  <a:srgbClr val="F4F2EC"/>
                </a:solidFill>
                <a:latin typeface="Space Grotesk"/>
                <a:ea typeface="Space Grotesk"/>
                <a:cs typeface="Space Grotesk"/>
                <a:sym typeface="Space Grotesk"/>
              </a:rPr>
              <a:t>Your hazards next</a:t>
            </a:r>
            <a:endParaRPr b="0" i="0" sz="1800" u="none" cap="none" strike="noStrike">
              <a:solidFill>
                <a:schemeClr val="lt1"/>
              </a:solidFill>
              <a:latin typeface="IBM Plex Sans"/>
              <a:ea typeface="IBM Plex Sans"/>
              <a:cs typeface="IBM Plex Sans"/>
              <a:sym typeface="IBM Plex Sans"/>
            </a:endParaRPr>
          </a:p>
        </p:txBody>
      </p:sp>
      <p:sp>
        <p:nvSpPr>
          <p:cNvPr id="197" name="Google Shape;197;p14"/>
          <p:cNvSpPr/>
          <p:nvPr/>
        </p:nvSpPr>
        <p:spPr>
          <a:xfrm>
            <a:off x="7992554" y="5379721"/>
            <a:ext cx="3488245"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CE"/>
              </a:buClr>
              <a:buSzPts val="1300"/>
              <a:buFont typeface="IBM Plex Sans"/>
              <a:buNone/>
            </a:pPr>
            <a:r>
              <a:rPr b="0" i="0" lang="en-US" sz="1300" u="none" cap="none" strike="noStrike">
                <a:solidFill>
                  <a:srgbClr val="B8C4CE"/>
                </a:solidFill>
                <a:latin typeface="IBM Plex Sans"/>
                <a:ea typeface="IBM Plex Sans"/>
                <a:cs typeface="IBM Plex Sans"/>
                <a:sym typeface="IBM Plex Sans"/>
              </a:rPr>
              <a:t>Take the whole setup and add a YAML file</a:t>
            </a:r>
            <a:endParaRPr b="0" i="0" sz="1300" u="none" cap="none" strike="noStrike">
              <a:solidFill>
                <a:schemeClr val="lt1"/>
              </a:solidFill>
              <a:latin typeface="IBM Plex Sans"/>
              <a:ea typeface="IBM Plex Sans"/>
              <a:cs typeface="IBM Plex Sans"/>
              <a:sym typeface="IBM Plex Sans"/>
            </a:endParaRPr>
          </a:p>
        </p:txBody>
      </p:sp>
      <p:sp>
        <p:nvSpPr>
          <p:cNvPr id="198" name="Google Shape;198;p14"/>
          <p:cNvSpPr/>
          <p:nvPr/>
        </p:nvSpPr>
        <p:spPr>
          <a:xfrm>
            <a:off x="812800" y="6238236"/>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C8B98"/>
              </a:buClr>
              <a:buSzPts val="1200"/>
              <a:buFont typeface="IBM Plex Sans"/>
              <a:buNone/>
            </a:pPr>
            <a:r>
              <a:rPr b="0" i="0" lang="en-US" sz="1200" u="none" cap="none" strike="noStrike">
                <a:solidFill>
                  <a:srgbClr val="7C8B98"/>
                </a:solidFill>
                <a:latin typeface="IBM Plex Sans"/>
                <a:ea typeface="IBM Plex Sans"/>
                <a:cs typeface="IBM Plex Sans"/>
                <a:sym typeface="IBM Plex Sans"/>
              </a:rPr>
              <a:t>[Team name] · [Repository or Blueprint link] · Thank you</a:t>
            </a:r>
            <a:endParaRPr b="0" i="0" sz="12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xmlns:r="http://schemas.openxmlformats.org/officeDocument/2006/relationships" name="Battery Thermal Guardian">
  <a:themeElements>
    <a:clrScheme name="Battery Thermal Guardian">
      <a:dk1>
        <a:srgbClr val="0E1A24"/>
      </a:dk1>
      <a:lt1>
        <a:srgbClr val="F4F2EC"/>
      </a:lt1>
      <a:dk2>
        <a:srgbClr val="253038"/>
      </a:dk2>
      <a:lt2>
        <a:srgbClr val="BBBCBA"/>
      </a:lt2>
      <a:accent1>
        <a:srgbClr val="FF6B2C"/>
      </a:accent1>
      <a:accent2>
        <a:srgbClr val="B8410C"/>
      </a:accent2>
      <a:accent3>
        <a:srgbClr val="FFB347"/>
      </a:accent3>
      <a:accent4>
        <a:srgbClr val="B8C4CE"/>
      </a:accent4>
      <a:accent5>
        <a:srgbClr val="4A5568"/>
      </a:accent5>
      <a:accent6>
        <a:srgbClr val="7C8B9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ttery Thermal Guardian">
  <a:themeElements>
    <a:clrScheme name="Battery Thermal Guardian">
      <a:dk1>
        <a:srgbClr val="0E1A24"/>
      </a:dk1>
      <a:lt1>
        <a:srgbClr val="F4F2EC"/>
      </a:lt1>
      <a:dk2>
        <a:srgbClr val="253038"/>
      </a:dk2>
      <a:lt2>
        <a:srgbClr val="BBBCBA"/>
      </a:lt2>
      <a:accent1>
        <a:srgbClr val="FF6B2C"/>
      </a:accent1>
      <a:accent2>
        <a:srgbClr val="B8410C"/>
      </a:accent2>
      <a:accent3>
        <a:srgbClr val="FFB347"/>
      </a:accent3>
      <a:accent4>
        <a:srgbClr val="B8C4CE"/>
      </a:accent4>
      <a:accent5>
        <a:srgbClr val="4A5568"/>
      </a:accent5>
      <a:accent6>
        <a:srgbClr val="7C8B9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